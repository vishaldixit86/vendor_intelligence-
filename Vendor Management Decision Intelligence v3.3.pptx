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9"/>
  </p:notesMasterIdLst>
  <p:sldIdLst>
    <p:sldId id="2147483534" r:id="rId3"/>
    <p:sldId id="2147483540" r:id="rId4"/>
    <p:sldId id="2147483542" r:id="rId5"/>
    <p:sldId id="2147483541" r:id="rId6"/>
    <p:sldId id="261" r:id="rId7"/>
    <p:sldId id="214748353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F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99D3B-942B-584B-87F4-1BF043F644B1}" v="179" dt="2026-09-14T21:10:19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6"/>
    <p:restoredTop sz="94610"/>
  </p:normalViewPr>
  <p:slideViewPr>
    <p:cSldViewPr snapToGrid="0" snapToObjects="1">
      <p:cViewPr>
        <p:scale>
          <a:sx n="105" d="100"/>
          <a:sy n="105" d="100"/>
        </p:scale>
        <p:origin x="1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54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>
              <a:buNone/>
            </a:pPr>
            <a:endParaRPr lang="en-US" sz="14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78543A-B8F0-4F4E-AF5E-7F6C8BBE19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879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5C10-348D-06BE-146C-0DC82192E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4F404-D3CE-1A8B-9C07-AE1CF7673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87712-9C38-E5E4-0664-C11577DD5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C7244-AB32-531F-253B-FEA159121E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45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6480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6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-up of a face&#10;&#10;AI-generated content may be incorrect.">
            <a:extLst>
              <a:ext uri="{FF2B5EF4-FFF2-40B4-BE49-F238E27FC236}">
                <a16:creationId xmlns:a16="http://schemas.microsoft.com/office/drawing/2014/main" id="{E0BDAED4-0F0F-3FF9-AF82-C1670D95D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ubtitle">
            <a:extLst>
              <a:ext uri="{FF2B5EF4-FFF2-40B4-BE49-F238E27FC236}">
                <a16:creationId xmlns:a16="http://schemas.microsoft.com/office/drawing/2014/main" id="{AAE7954A-F895-4FCB-399C-3FB769D05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3824765" cy="307777"/>
          </a:xfrm>
        </p:spPr>
        <p:txBody>
          <a:bodyPr wrap="none" lIns="0" tIns="0" rIns="0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25C79BA4-D7F7-F989-06CE-826ADD26EC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813" y="2847127"/>
            <a:ext cx="7940059" cy="1661993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GB" sz="6000" b="1" dirty="0">
                <a:solidFill>
                  <a:schemeClr val="tx1"/>
                </a:solidFill>
                <a:latin typeface="Ubuntu" panose="020B0504030602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62F81-736E-D6E3-952D-2F7DA62CC3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726530C1-4753-4370-5C47-823B0B2298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5" name="Picture 4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CE3168B6-C293-24E4-1DC9-9B52898FAB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cxnSp>
        <p:nvCxnSpPr>
          <p:cNvPr id="7" name="Connecteur droit 7">
            <a:extLst>
              <a:ext uri="{FF2B5EF4-FFF2-40B4-BE49-F238E27FC236}">
                <a16:creationId xmlns:a16="http://schemas.microsoft.com/office/drawing/2014/main" id="{CB746E93-6EFA-8F4E-D755-207F307A79FE}"/>
              </a:ext>
            </a:extLst>
          </p:cNvPr>
          <p:cNvCxnSpPr/>
          <p:nvPr userDrawn="1"/>
        </p:nvCxnSpPr>
        <p:spPr>
          <a:xfrm>
            <a:off x="9500388" y="1193337"/>
            <a:ext cx="1962150" cy="0"/>
          </a:xfrm>
          <a:prstGeom prst="line">
            <a:avLst/>
          </a:prstGeom>
          <a:ln w="12700">
            <a:solidFill>
              <a:srgbClr val="9196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D19E24B-0FAC-CFDD-5C97-2D33EEA9DA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7508" y="635657"/>
            <a:ext cx="2267909" cy="5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31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seu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1105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VA_MASTER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7969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7987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80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-up of a face&#10;&#10;AI-generated content may be incorrect.">
            <a:extLst>
              <a:ext uri="{FF2B5EF4-FFF2-40B4-BE49-F238E27FC236}">
                <a16:creationId xmlns:a16="http://schemas.microsoft.com/office/drawing/2014/main" id="{E0BDAED4-0F0F-3FF9-AF82-C1670D95D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ubtitle">
            <a:extLst>
              <a:ext uri="{FF2B5EF4-FFF2-40B4-BE49-F238E27FC236}">
                <a16:creationId xmlns:a16="http://schemas.microsoft.com/office/drawing/2014/main" id="{AAE7954A-F895-4FCB-399C-3FB769D05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3824765" cy="307777"/>
          </a:xfrm>
        </p:spPr>
        <p:txBody>
          <a:bodyPr wrap="none" lIns="0" tIns="0" rIns="0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25C79BA4-D7F7-F989-06CE-826ADD26EC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813" y="2847127"/>
            <a:ext cx="7940059" cy="1661993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GB" sz="6000" b="1" dirty="0">
                <a:solidFill>
                  <a:schemeClr val="tx1"/>
                </a:solidFill>
                <a:latin typeface="Ubuntu" panose="020B0504030602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62F81-736E-D6E3-952D-2F7DA62CC3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726530C1-4753-4370-5C47-823B0B2298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5" name="Picture 4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CE3168B6-C293-24E4-1DC9-9B52898FAB6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cxnSp>
        <p:nvCxnSpPr>
          <p:cNvPr id="7" name="Connecteur droit 7">
            <a:extLst>
              <a:ext uri="{FF2B5EF4-FFF2-40B4-BE49-F238E27FC236}">
                <a16:creationId xmlns:a16="http://schemas.microsoft.com/office/drawing/2014/main" id="{CB746E93-6EFA-8F4E-D755-207F307A79FE}"/>
              </a:ext>
            </a:extLst>
          </p:cNvPr>
          <p:cNvCxnSpPr/>
          <p:nvPr userDrawn="1"/>
        </p:nvCxnSpPr>
        <p:spPr>
          <a:xfrm>
            <a:off x="9500388" y="1193337"/>
            <a:ext cx="1962150" cy="0"/>
          </a:xfrm>
          <a:prstGeom prst="line">
            <a:avLst/>
          </a:prstGeom>
          <a:ln w="12700">
            <a:solidFill>
              <a:srgbClr val="9196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D19E24B-0FAC-CFDD-5C97-2D33EEA9DA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7508" y="635657"/>
            <a:ext cx="2267909" cy="5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98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191F5E6-604E-7BFA-AD92-4E0B40E4E4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4566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cap="none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Dark and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8">
            <a:extLst>
              <a:ext uri="{FF2B5EF4-FFF2-40B4-BE49-F238E27FC236}">
                <a16:creationId xmlns:a16="http://schemas.microsoft.com/office/drawing/2014/main" id="{DDB5B739-06FA-5C3D-2D55-327AB0D1B4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4568" r="24568"/>
          <a:stretch/>
        </p:blipFill>
        <p:spPr>
          <a:xfrm>
            <a:off x="6959600" y="0"/>
            <a:ext cx="52324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29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6480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6A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id" hidden="1">
            <a:extLst>
              <a:ext uri="{FF2B5EF4-FFF2-40B4-BE49-F238E27FC236}">
                <a16:creationId xmlns:a16="http://schemas.microsoft.com/office/drawing/2014/main" id="{8F9E8801-D980-1710-7744-EC8F973D07A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9678" y="549274"/>
            <a:ext cx="11089753" cy="5770739"/>
            <a:chOff x="550863" y="-3545094"/>
            <a:chExt cx="9958051" cy="6550747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8FC879BF-E72C-D96C-9BC0-3E49E5F04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BAB6FE4-6304-DE99-78AD-90B330F37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0471B5B-45B8-564B-0920-9B41801D5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30D0CBF-8A96-788C-143D-C55859BD50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6F761E9-40E3-2A02-09F9-A0E5B39571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BB29C86-0CE6-3D23-6BBA-1E2EBB4DED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3930628-2646-371A-9C15-E91BBABB20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18E16051-44F2-6876-6F2A-B6A52D6363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40F7466-BFF2-B02A-B8A7-20D106BBD0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23B36D1-24C7-C859-4EA8-A1D4F52C9F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A58F615B-7CF3-DF14-0EC2-ACE2F162BE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9CAD288-B6F2-7FF6-A8F0-2D7327348D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354509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BEC96C42-49F1-852E-FF32-0038A4967B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E602F8C3-47F1-3613-8368-0289646248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E7F47D5-8366-C5A2-9BEF-9419A5A8F7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65A6B53-F4DF-B927-0674-8AB7001B9F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C2FF76A-C558-3F9E-FC16-E8D5821F0C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DDD8C3EF-8758-979C-258A-70EBD24E5B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0D628708-FC23-4EE6-2C00-EA366CD963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1DE9EF4-3D87-B663-C07B-876A47E5D0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BA92E33B-01FC-D8B7-A3B7-78D72AB7CF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FAB6C1B-9D42-AA6D-BB5A-84B194230F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4C0E64B-61D6-A164-9965-6AD0E1816B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EC36AAE-2C61-A3D5-DB36-44A8BF5CB9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299923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2435B3A-57BC-36BF-BB34-7697C02778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8C9FBCD-B281-3608-BA81-2AC647638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E90CF09F-3563-C139-C11E-3653502153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F5E262E-DE20-9E09-AF27-E8A86BAE05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0B41753-16EE-61ED-8696-5FA5E9C2EE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4FFF957A-65F7-354A-2E50-BE1E6498FE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862F9C8-0958-AEC7-DF2F-31FF6710D4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7369A8D6-433A-66A6-981B-2D53939918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DA1FC1F-D0DB-8D42-849E-96B00D90E1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0B39CC16-7B96-12B6-7B09-7F4F327EEF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54840D7-435F-7D41-2A7E-A80E96BBB3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3A0A8E7-3A30-84C0-88E0-2516C24E2F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245337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0E5F3DC-2B4D-7FF0-C7E7-8E1EEE8C5B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6A2ADEB-483B-13B7-E31A-C123A0A2EE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A16DAAEC-B6A5-C0DF-279F-BE96A598B1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F0BD3061-7015-4101-3225-EC429AB4AC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EDC4868-A1A4-BACD-72B1-AA2422F5A8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1A62F51-36B2-2E20-CE23-D2CDC11DF8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6339BE9-DB79-BABB-8A9D-7152D3200D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D2986CEC-ABC8-676D-3744-FE78A0C5AD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6F2EAC3F-7543-A855-62E6-03530CC646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F7D7E8C-23CA-53ED-EA38-D5710EB24A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BF8CD587-BEBB-ACBB-9776-8479B55713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39119BD7-9984-63E6-1D54-69E5DF99B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1907508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BBFFD609-D889-F38F-5E82-837D444E7D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37183694-9986-6E9D-A815-27CE13D200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4E0FA33-003C-0F04-5090-F6A4C9B407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6C389C6-B3E9-7D76-8EA1-20977EEF39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78454E8-CC62-7378-4C09-9CE2A0ECEF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6AB4CE7-D383-8BC3-7098-A0E09D9EF0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233ECF4-2D1F-186F-EAB1-A7E801A04D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8667656-E379-B068-99AD-3E55B7154C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ECDF1114-F2E5-3A47-B873-FF79D7F24D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E93CF1F8-506C-9592-3BE1-4BE2EFF11A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2A5E3FF1-7E83-F200-073A-7722B73F3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DD71647-1F16-681E-00B1-B21139EF94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1361646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AE6277C0-04DD-578D-D4CB-2B552E918D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57766A9-7B44-CF13-82BE-8843BACBEB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2DE6125-7CB8-CAE7-6598-C5A47FDF2A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6BC92D12-64E4-1931-D68A-7EF6AB1657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0A640D9D-885D-2B74-AC79-04431E07CE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AAD5E7D5-1A53-396F-3B39-A7968E8285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C0A950A-2260-AD2F-8E7A-5CEF6E9EEF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FE59E702-036E-509C-3423-F19BA82235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D8BAF2A9-041F-6EE6-DB76-10EBC4A37E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C410F055-E471-C4CF-74D3-E0C366D527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B833A0E-CE30-54B9-6194-454EB21C59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EDEFA317-684B-D57B-70BD-632BC65F93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815784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61A1CAEF-A86D-9BFD-1379-5A85321F13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B0282FCF-29D6-3258-E05D-A56FA5B2A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7DF3917B-128F-8FBE-7352-238ACEBCE3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98C9D4AB-1ABE-5C4E-7D77-8DD7007C98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8F649420-773F-29B1-AA3C-0054F8FFF6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F4186310-910B-B1FE-04A6-0F689DE054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4A6F5BB-74F9-64BD-AC93-1D4DFF1AD8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7D592AE4-4927-3BEC-492F-2BCDF6E49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001CD22F-7231-A437-3BA7-AFC41D3198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A25747FF-9708-3A7C-A4BD-9B55246617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4F0C41AC-16ED-83F3-AB02-0F00F27296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8BE43C14-3B22-9306-D887-3A3FAA99F7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-269922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71D44B10-5794-F953-2905-A64D0B893B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6DF200C2-D404-155D-DB2B-70ED7DFBEC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CAA230CE-98D0-6544-F22C-296286A2E9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2DD72533-1E7F-E3F0-FBC8-F930528845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F2D35762-347D-2504-83E4-C63C8B67B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7663267-1EF4-A0C1-0EEB-0B521DB809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2D91F84-2020-390D-E9A2-0762469E43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2C41FD62-CB56-09F0-1283-EB31ED3929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E11FF9A1-8229-30CC-180D-0A939F0D45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0977589-BB55-D669-DDC0-355372ADEC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8B11821D-4031-930E-4571-3D2129A7E8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D5B68D48-25B4-FB66-E31A-F9AFE83108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275940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905D6E9-A8BF-F338-3717-79990F3D5C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26392015-E260-8720-DD53-7D9AE9342A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4C8EAD03-F4EE-0CEA-F48E-470E9E374C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2CC88048-05E0-71C1-2769-80CAEA75BA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0154FF0-E159-6521-5809-83D361577F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F8CFD524-2D6F-07F5-3DB0-5D68D033A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0810053B-76AA-15EB-5EFD-33456963A1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CE453DEF-F8CB-0A67-2636-475856A1FE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8C7DC0F4-9BDF-D3D5-7A09-B1AFCD3E3D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A94F5C9F-F0B3-5566-8AF1-348DC19C78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9684F7F3-962B-7E2A-2B62-0E413CDF40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01F59E92-4648-AE86-2A62-248888B5B3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822205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F0121BF1-266A-40D8-6B0B-768391CE21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2D91AA7C-36D2-781B-4DA9-71CD0E746E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C8ADA6F4-98F1-AED6-EEE1-3FCB0CC0BA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0E3EF6D6-F413-BEAB-BE07-D58981A74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0D7E708E-84F6-5C1C-10A5-7863A42A3E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9C764439-D291-F8DF-C56A-75C0AE5B27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00AEB3EA-3ED4-E674-6163-3589EE6750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CB48C6E6-B6D9-A588-7336-037FD8A250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0BF833EE-53C9-B54E-E0CB-66EDF9A9AD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13A0769C-4B5B-73EA-6BE7-6CF4248017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8B969E10-824B-AFB5-33F8-C2BBC63824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9E1468E1-F26D-A220-6981-BDA13150B5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1368067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05D3C090-8951-E5E9-313C-4A92F6FDE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EAF600D9-649D-A1C3-8992-445C7A7DFD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836E1036-3C96-385A-2190-31DC614D7F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78FF353D-6C9C-8659-B21D-AFDDEB85B6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A45BF626-A346-4731-6990-681D5E80D8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0C891F23-A305-CA04-D0AB-E8323D8C33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FA7E8AF9-A599-AF60-7CF9-59F29A5E6A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CE0F8B2F-9AE4-40B8-A959-A493E83BF5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544AB61D-8CF5-9BE2-001C-D867B8BF3A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DE1D1D6-1063-01B7-6F95-D16A941731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F7690B55-15BB-7811-DFE2-A8A22F069A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98404837-5CD1-DCBD-D393-A0347D4DCE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1913929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3336EB02-4BC7-8E85-34DD-F29E9A19C5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0863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2D37C68A-7BAF-B7F3-67D5-25B3FE7B77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80744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9566DB98-0935-6A49-0F47-7F59CCAA9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10625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419C7C40-EC83-7A64-52C8-7BC6F94F6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40506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A69F59CD-86F8-85A3-AFE4-841C977E8D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870387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EB17E24-1D5A-7E3F-A4AE-C6BDD47808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700268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66195822-AE75-3374-1F12-48C23DACE7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530149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90179D2-D1D9-50B0-1F2E-2F364C8A01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0030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7A5A6E66-1E92-97A6-8C5A-3E661837D2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189390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F9605848-A619-E806-FC4A-6C3455E6C8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019271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CE37F156-1BB3-B145-1D23-217C4D9E70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49152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E91B83AB-C79F-5E11-D2F6-E010894913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679033" y="2459791"/>
              <a:ext cx="829881" cy="545862"/>
            </a:xfrm>
            <a:prstGeom prst="rect">
              <a:avLst/>
            </a:prstGeom>
            <a:noFill/>
            <a:ln w="3175">
              <a:solidFill>
                <a:srgbClr val="FF816E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PL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549274"/>
            <a:ext cx="11089754" cy="1079526"/>
          </a:xfrm>
          <a:prstGeom prst="rect">
            <a:avLst/>
          </a:prstGeom>
        </p:spPr>
        <p:txBody>
          <a:bodyPr vert="horz" lIns="0" tIns="0" rIns="0" bIns="180000" rtlCol="0" anchor="t" anchorCtr="0">
            <a:sp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114363" y="1124744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</a:t>
            </a:r>
            <a:r>
              <a:rPr lang="fr-FR" err="1"/>
              <a:t>Invent</a:t>
            </a:r>
            <a:r>
              <a:rPr lang="fr-FR"/>
              <a:t>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/>
        </p:nvSpPr>
        <p:spPr>
          <a:xfrm>
            <a:off x="545323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9962DC9F-19EF-0160-1ECB-38EA543386E4}"/>
              </a:ext>
            </a:extLst>
          </p:cNvPr>
          <p:cNvGrpSpPr/>
          <p:nvPr/>
        </p:nvGrpSpPr>
        <p:grpSpPr>
          <a:xfrm>
            <a:off x="11778341" y="176700"/>
            <a:ext cx="252211" cy="233362"/>
            <a:chOff x="5481638" y="2859088"/>
            <a:chExt cx="1231900" cy="1139825"/>
          </a:xfrm>
          <a:solidFill>
            <a:schemeClr val="tx2"/>
          </a:solidFill>
        </p:grpSpPr>
        <p:sp>
          <p:nvSpPr>
            <p:cNvPr id="6" name="Freeform 320">
              <a:extLst>
                <a:ext uri="{FF2B5EF4-FFF2-40B4-BE49-F238E27FC236}">
                  <a16:creationId xmlns:a16="http://schemas.microsoft.com/office/drawing/2014/main" id="{9EB66FFA-57EA-AE57-615D-D19F28A47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7" name="Freeform 321">
              <a:extLst>
                <a:ext uri="{FF2B5EF4-FFF2-40B4-BE49-F238E27FC236}">
                  <a16:creationId xmlns:a16="http://schemas.microsoft.com/office/drawing/2014/main" id="{FF39CD59-7E45-33C5-FA77-E50FFA28B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6439DF-44D6-437D-43F8-6C05612D6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1" y="1628800"/>
            <a:ext cx="11089753" cy="46799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17" name="Date Placeholder 34">
            <a:extLst>
              <a:ext uri="{FF2B5EF4-FFF2-40B4-BE49-F238E27FC236}">
                <a16:creationId xmlns:a16="http://schemas.microsoft.com/office/drawing/2014/main" id="{59D24AA7-5D20-9735-01B5-12464D579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76614" y="6650661"/>
            <a:ext cx="1764000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algn="r">
              <a:defRPr lang="de-DE" sz="800" smtClean="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© Capgemini 2025. All rights reserved.</a:t>
            </a:r>
            <a:endParaRPr lang="en-US"/>
          </a:p>
        </p:txBody>
      </p:sp>
      <p:sp>
        <p:nvSpPr>
          <p:cNvPr id="18" name="Slide Number Placeholder 37">
            <a:extLst>
              <a:ext uri="{FF2B5EF4-FFF2-40B4-BE49-F238E27FC236}">
                <a16:creationId xmlns:a16="http://schemas.microsoft.com/office/drawing/2014/main" id="{7CCD8316-986E-FD5F-6879-84D58DDFA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7834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de-DE" sz="800" b="0" i="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algn="r"/>
            <a:fld id="{5D9A5160-6218-4E5A-B9E6-B93E3DAE377C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1" name="Footer Placeholder 9">
            <a:extLst>
              <a:ext uri="{FF2B5EF4-FFF2-40B4-BE49-F238E27FC236}">
                <a16:creationId xmlns:a16="http://schemas.microsoft.com/office/drawing/2014/main" id="{CBA06E7B-C57C-8E0E-2E03-78B63545F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63" y="6495011"/>
            <a:ext cx="4716524" cy="27876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>
              <a:defRPr lang="de-DE" sz="800" spc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b="1"/>
              <a:t>AI governance | January 2026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CB1494-398D-DABC-24B5-8147C110F4C2}"/>
              </a:ext>
            </a:extLst>
          </p:cNvPr>
          <p:cNvSpPr/>
          <p:nvPr/>
        </p:nvSpPr>
        <p:spPr>
          <a:xfrm>
            <a:off x="8380317" y="6650661"/>
            <a:ext cx="142743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</a:rPr>
              <a:t>Company Confidential</a:t>
            </a:r>
            <a:endParaRPr kumimoji="0" lang="en-PL" sz="8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786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2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>
          <a:srgbClr val="00D5D0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065">
          <p15:clr>
            <a:srgbClr val="F26B43"/>
          </p15:clr>
        </p15:guide>
        <p15:guide id="20" pos="347">
          <p15:clr>
            <a:srgbClr val="F26B43"/>
          </p15:clr>
        </p15:guide>
        <p15:guide id="21" pos="3840">
          <p15:clr>
            <a:srgbClr val="F26B43"/>
          </p15:clr>
        </p15:guide>
        <p15:guide id="22" pos="7333">
          <p15:clr>
            <a:srgbClr val="F26B43"/>
          </p15:clr>
        </p15:guide>
        <p15:guide id="23" orient="horz" pos="164">
          <p15:clr>
            <a:srgbClr val="F26B43"/>
          </p15:clr>
        </p15:guide>
        <p15:guide id="25" orient="horz" pos="346">
          <p15:clr>
            <a:srgbClr val="F26B43"/>
          </p15:clr>
        </p15:guide>
        <p15:guide id="26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svg"/><Relationship Id="rId18" Type="http://schemas.openxmlformats.org/officeDocument/2006/relationships/image" Target="../media/image24.svg"/><Relationship Id="rId26" Type="http://schemas.openxmlformats.org/officeDocument/2006/relationships/image" Target="../media/image32.svg"/><Relationship Id="rId3" Type="http://schemas.openxmlformats.org/officeDocument/2006/relationships/image" Target="../media/image9.svg"/><Relationship Id="rId21" Type="http://schemas.openxmlformats.org/officeDocument/2006/relationships/image" Target="../media/image27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3.svg"/><Relationship Id="rId25" Type="http://schemas.openxmlformats.org/officeDocument/2006/relationships/image" Target="../media/image31.svg"/><Relationship Id="rId33" Type="http://schemas.openxmlformats.org/officeDocument/2006/relationships/image" Target="../media/image39.sv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2.svg"/><Relationship Id="rId20" Type="http://schemas.openxmlformats.org/officeDocument/2006/relationships/image" Target="../media/image26.svg"/><Relationship Id="rId29" Type="http://schemas.openxmlformats.org/officeDocument/2006/relationships/image" Target="../media/image35.sv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24" Type="http://schemas.openxmlformats.org/officeDocument/2006/relationships/image" Target="../media/image30.svg"/><Relationship Id="rId32" Type="http://schemas.openxmlformats.org/officeDocument/2006/relationships/image" Target="../media/image38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23" Type="http://schemas.openxmlformats.org/officeDocument/2006/relationships/image" Target="../media/image29.svg"/><Relationship Id="rId28" Type="http://schemas.openxmlformats.org/officeDocument/2006/relationships/image" Target="../media/image34.svg"/><Relationship Id="rId10" Type="http://schemas.openxmlformats.org/officeDocument/2006/relationships/image" Target="../media/image16.svg"/><Relationship Id="rId19" Type="http://schemas.openxmlformats.org/officeDocument/2006/relationships/image" Target="../media/image25.svg"/><Relationship Id="rId31" Type="http://schemas.openxmlformats.org/officeDocument/2006/relationships/image" Target="../media/image37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Relationship Id="rId22" Type="http://schemas.openxmlformats.org/officeDocument/2006/relationships/image" Target="../media/image28.svg"/><Relationship Id="rId27" Type="http://schemas.openxmlformats.org/officeDocument/2006/relationships/image" Target="../media/image33.svg"/><Relationship Id="rId30" Type="http://schemas.openxmlformats.org/officeDocument/2006/relationships/image" Target="../media/image36.svg"/><Relationship Id="rId8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CC73C7-71A3-D18E-0B15-425055D2600B}"/>
              </a:ext>
            </a:extLst>
          </p:cNvPr>
          <p:cNvSpPr txBox="1">
            <a:spLocks/>
          </p:cNvSpPr>
          <p:nvPr/>
        </p:nvSpPr>
        <p:spPr>
          <a:xfrm>
            <a:off x="685800" y="1225296"/>
            <a:ext cx="9875520" cy="153888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000" b="1" i="0">
                <a:solidFill>
                  <a:srgbClr val="FFFFFF"/>
                </a:solidFill>
                <a:latin typeface="Ubuntu" panose="020B0504030602030204" pitchFamily="34" charset="0"/>
              </a:rPr>
              <a:t>Vendor Management
Decision Intelligence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65034-0261-8A07-0C8A-FADDA6C14BE1}"/>
              </a:ext>
            </a:extLst>
          </p:cNvPr>
          <p:cNvSpPr txBox="1">
            <a:spLocks/>
          </p:cNvSpPr>
          <p:nvPr/>
        </p:nvSpPr>
        <p:spPr>
          <a:xfrm>
            <a:off x="713232" y="2770632"/>
            <a:ext cx="8953282" cy="6771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latin typeface="Ubuntu" panose="020B0504030602030204" pitchFamily="34" charset="0"/>
              </a:rPr>
              <a:t>A connected decision layer that turns fragmented vendor data into confident action.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9AE293DC-8AF6-349C-9C0B-DD85C6108F71}"/>
              </a:ext>
            </a:extLst>
          </p:cNvPr>
          <p:cNvCxnSpPr/>
          <p:nvPr/>
        </p:nvCxnSpPr>
        <p:spPr>
          <a:xfrm>
            <a:off x="713232" y="4160520"/>
            <a:ext cx="10168128" cy="0"/>
          </a:xfrm>
          <a:prstGeom prst="line">
            <a:avLst/>
          </a:prstGeom>
          <a:ln w="15240">
            <a:solidFill>
              <a:srgbClr val="5273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2A8AEF-8894-8B30-B2BC-8480BDB90DE7}"/>
              </a:ext>
            </a:extLst>
          </p:cNvPr>
          <p:cNvSpPr txBox="1">
            <a:spLocks/>
          </p:cNvSpPr>
          <p:nvPr/>
        </p:nvSpPr>
        <p:spPr>
          <a:xfrm>
            <a:off x="713232" y="4498848"/>
            <a:ext cx="457200" cy="27699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i="0"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7951E-0143-DCFE-3052-16B60FD00EAB}"/>
              </a:ext>
            </a:extLst>
          </p:cNvPr>
          <p:cNvSpPr txBox="1">
            <a:spLocks/>
          </p:cNvSpPr>
          <p:nvPr/>
        </p:nvSpPr>
        <p:spPr>
          <a:xfrm>
            <a:off x="713232" y="4864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 dirty="0">
                <a:latin typeface="Ubuntu" panose="020B0504030602030204" pitchFamily="34" charset="0"/>
              </a:rPr>
              <a:t>Unify the evidence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D296A5-1928-335C-1D7D-23869490BC3F}"/>
              </a:ext>
            </a:extLst>
          </p:cNvPr>
          <p:cNvSpPr txBox="1">
            <a:spLocks/>
          </p:cNvSpPr>
          <p:nvPr/>
        </p:nvSpPr>
        <p:spPr>
          <a:xfrm>
            <a:off x="713232" y="5285232"/>
            <a:ext cx="3154680" cy="43088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 dirty="0">
                <a:latin typeface="Ubuntu" panose="020B0504030602030204" pitchFamily="34" charset="0"/>
              </a:rPr>
              <a:t>Contracts, spend, workforce, products and ownership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D71D4-E332-A6AF-14E8-6D43A44CFB2F}"/>
              </a:ext>
            </a:extLst>
          </p:cNvPr>
          <p:cNvSpPr txBox="1">
            <a:spLocks/>
          </p:cNvSpPr>
          <p:nvPr/>
        </p:nvSpPr>
        <p:spPr>
          <a:xfrm>
            <a:off x="4370832" y="4498848"/>
            <a:ext cx="457200" cy="27699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i="0">
                <a:latin typeface="Ubuntu" panose="020B050403060203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EE3BBF-DBD2-A108-A7FB-2B22FE740453}"/>
              </a:ext>
            </a:extLst>
          </p:cNvPr>
          <p:cNvSpPr txBox="1">
            <a:spLocks/>
          </p:cNvSpPr>
          <p:nvPr/>
        </p:nvSpPr>
        <p:spPr>
          <a:xfrm>
            <a:off x="4370832" y="4864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latin typeface="Ubuntu" panose="020B0504030602030204" pitchFamily="34" charset="0"/>
              </a:rPr>
              <a:t>Answer in minutes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910A1-C447-1DCF-54CD-4F4C1B2E6594}"/>
              </a:ext>
            </a:extLst>
          </p:cNvPr>
          <p:cNvSpPr txBox="1">
            <a:spLocks/>
          </p:cNvSpPr>
          <p:nvPr/>
        </p:nvSpPr>
        <p:spPr>
          <a:xfrm>
            <a:off x="4370832" y="5285232"/>
            <a:ext cx="3154680" cy="43088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latin typeface="Ubuntu" panose="020B0504030602030204" pitchFamily="34" charset="0"/>
              </a:rPr>
              <a:t>Sourcing, renewal and risk questions without manual reconciliation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24C5C2-EB7F-8D49-15D3-0C1F70885ACB}"/>
              </a:ext>
            </a:extLst>
          </p:cNvPr>
          <p:cNvSpPr txBox="1">
            <a:spLocks/>
          </p:cNvSpPr>
          <p:nvPr/>
        </p:nvSpPr>
        <p:spPr>
          <a:xfrm>
            <a:off x="8028431" y="4498848"/>
            <a:ext cx="457200" cy="27699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i="0">
                <a:latin typeface="Ubuntu" panose="020B050403060203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56451C-5A3F-633C-2A5E-95DACFA20A62}"/>
              </a:ext>
            </a:extLst>
          </p:cNvPr>
          <p:cNvSpPr txBox="1">
            <a:spLocks/>
          </p:cNvSpPr>
          <p:nvPr/>
        </p:nvSpPr>
        <p:spPr>
          <a:xfrm>
            <a:off x="8028431" y="4864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latin typeface="Ubuntu" panose="020B0504030602030204" pitchFamily="34" charset="0"/>
              </a:rPr>
              <a:t>Act proactively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4D03A-5B8A-51D8-2C33-3607F6987386}"/>
              </a:ext>
            </a:extLst>
          </p:cNvPr>
          <p:cNvSpPr txBox="1">
            <a:spLocks/>
          </p:cNvSpPr>
          <p:nvPr/>
        </p:nvSpPr>
        <p:spPr>
          <a:xfrm>
            <a:off x="8028431" y="5285232"/>
            <a:ext cx="3154680" cy="43088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latin typeface="Ubuntu" panose="020B0504030602030204" pitchFamily="34" charset="0"/>
              </a:rPr>
              <a:t>Optimization, concentration risk and what-if decisions</a:t>
            </a:r>
          </a:p>
        </p:txBody>
      </p:sp>
    </p:spTree>
    <p:extLst>
      <p:ext uri="{BB962C8B-B14F-4D97-AF65-F5344CB8AC3E}">
        <p14:creationId xmlns:p14="http://schemas.microsoft.com/office/powerpoint/2010/main" val="3423152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E0EF-04C3-FA1C-607D-882F73CC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4">
            <a:extLst>
              <a:ext uri="{FF2B5EF4-FFF2-40B4-BE49-F238E27FC236}">
                <a16:creationId xmlns:a16="http://schemas.microsoft.com/office/drawing/2014/main" id="{9EE3617D-9206-2350-79EA-6953F44B085E}"/>
              </a:ext>
            </a:extLst>
          </p:cNvPr>
          <p:cNvSpPr txBox="1">
            <a:spLocks/>
          </p:cNvSpPr>
          <p:nvPr/>
        </p:nvSpPr>
        <p:spPr>
          <a:xfrm>
            <a:off x="9876614" y="6650661"/>
            <a:ext cx="1764000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de-DE" sz="8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©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Capgemini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2026.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All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rights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reserved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0" name="Slide Number Placeholder 37">
            <a:extLst>
              <a:ext uri="{FF2B5EF4-FFF2-40B4-BE49-F238E27FC236}">
                <a16:creationId xmlns:a16="http://schemas.microsoft.com/office/drawing/2014/main" id="{8D29C630-1D85-E760-0D63-008247F00D76}"/>
              </a:ext>
            </a:extLst>
          </p:cNvPr>
          <p:cNvSpPr txBox="1">
            <a:spLocks/>
          </p:cNvSpPr>
          <p:nvPr/>
        </p:nvSpPr>
        <p:spPr>
          <a:xfrm>
            <a:off x="1177834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b="0" i="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9A5160-6218-4E5A-B9E6-B93E3DAE377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B342084D-BD07-BAEC-1657-3DC3D5BE6444}"/>
              </a:ext>
            </a:extLst>
          </p:cNvPr>
          <p:cNvSpPr txBox="1">
            <a:spLocks/>
          </p:cNvSpPr>
          <p:nvPr/>
        </p:nvSpPr>
        <p:spPr>
          <a:xfrm>
            <a:off x="550863" y="6495011"/>
            <a:ext cx="4716524" cy="27876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kern="1200" spc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AI | September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A5D39E-DBAC-91C9-D50F-7BA2D19A0C93}"/>
              </a:ext>
            </a:extLst>
          </p:cNvPr>
          <p:cNvSpPr/>
          <p:nvPr/>
        </p:nvSpPr>
        <p:spPr>
          <a:xfrm>
            <a:off x="8380317" y="6650661"/>
            <a:ext cx="142743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  <a:endParaRPr kumimoji="0" lang="en-PL" sz="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90F2D-BCD8-FB22-D33A-6FEA9D0D8B73}"/>
              </a:ext>
            </a:extLst>
          </p:cNvPr>
          <p:cNvSpPr txBox="1">
            <a:spLocks/>
          </p:cNvSpPr>
          <p:nvPr/>
        </p:nvSpPr>
        <p:spPr>
          <a:xfrm>
            <a:off x="502920" y="530352"/>
            <a:ext cx="11064240" cy="553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600" b="1" i="0" dirty="0">
                <a:solidFill>
                  <a:schemeClr val="bg1"/>
                </a:solidFill>
                <a:latin typeface="Ubuntu" panose="020B0504030602030204" pitchFamily="34" charset="0"/>
              </a:rPr>
              <a:t>Fragmented data creates decision latency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88D7C-2FBE-E6B1-3B25-DA365E6C029F}"/>
              </a:ext>
            </a:extLst>
          </p:cNvPr>
          <p:cNvSpPr txBox="1">
            <a:spLocks/>
          </p:cNvSpPr>
          <p:nvPr/>
        </p:nvSpPr>
        <p:spPr>
          <a:xfrm>
            <a:off x="502920" y="1060704"/>
            <a:ext cx="10972800" cy="26161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0" i="0" dirty="0">
                <a:solidFill>
                  <a:schemeClr val="bg1"/>
                </a:solidFill>
                <a:latin typeface="Ubuntu" panose="020B0504030602030204" pitchFamily="34" charset="0"/>
              </a:rPr>
              <a:t>The constraint is not a lack of data – it is the effort required to assemble a trustworthy answer.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4AB38-6727-EF08-E790-2F81482B100A}"/>
              </a:ext>
            </a:extLst>
          </p:cNvPr>
          <p:cNvSpPr txBox="1">
            <a:spLocks/>
          </p:cNvSpPr>
          <p:nvPr/>
        </p:nvSpPr>
        <p:spPr>
          <a:xfrm>
            <a:off x="530352" y="162763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i="0">
                <a:solidFill>
                  <a:schemeClr val="bg1"/>
                </a:solidFill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2F7F3-1060-43D2-274F-8F77F3089175}"/>
              </a:ext>
            </a:extLst>
          </p:cNvPr>
          <p:cNvSpPr txBox="1">
            <a:spLocks/>
          </p:cNvSpPr>
          <p:nvPr/>
        </p:nvSpPr>
        <p:spPr>
          <a:xfrm>
            <a:off x="530352" y="2176272"/>
            <a:ext cx="2423160" cy="3077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i="0">
                <a:solidFill>
                  <a:schemeClr val="bg1"/>
                </a:solidFill>
                <a:latin typeface="Ubuntu" panose="020B0504030602030204" pitchFamily="34" charset="0"/>
              </a:rPr>
              <a:t>Fragmented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2BF03-D88B-5ABC-4DAE-629140F2CE87}"/>
              </a:ext>
            </a:extLst>
          </p:cNvPr>
          <p:cNvSpPr txBox="1">
            <a:spLocks/>
          </p:cNvSpPr>
          <p:nvPr/>
        </p:nvSpPr>
        <p:spPr>
          <a:xfrm>
            <a:off x="530352" y="2871216"/>
            <a:ext cx="2331720" cy="126957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Contracts &amp; SOWs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Spend &amp; GL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External workforce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Products &amp; ownership</a:t>
            </a:r>
          </a:p>
        </p:txBody>
      </p:sp>
      <p:cxnSp>
        <p:nvCxnSpPr>
          <p:cNvPr id="18" name="Connector 9">
            <a:extLst>
              <a:ext uri="{FF2B5EF4-FFF2-40B4-BE49-F238E27FC236}">
                <a16:creationId xmlns:a16="http://schemas.microsoft.com/office/drawing/2014/main" id="{47CDC91F-DDBF-19CA-6BF1-FA94803001DD}"/>
              </a:ext>
            </a:extLst>
          </p:cNvPr>
          <p:cNvCxnSpPr/>
          <p:nvPr/>
        </p:nvCxnSpPr>
        <p:spPr>
          <a:xfrm>
            <a:off x="3227832" y="1709928"/>
            <a:ext cx="0" cy="3758184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5657C7-B470-0D32-DD4B-869FEF25AF78}"/>
              </a:ext>
            </a:extLst>
          </p:cNvPr>
          <p:cNvSpPr txBox="1">
            <a:spLocks/>
          </p:cNvSpPr>
          <p:nvPr/>
        </p:nvSpPr>
        <p:spPr>
          <a:xfrm>
            <a:off x="3429000" y="162763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i="0">
                <a:solidFill>
                  <a:schemeClr val="bg1"/>
                </a:solidFill>
                <a:latin typeface="Ubuntu" panose="020B050403060203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32881-7E38-4592-84B7-A0C34CB0A492}"/>
              </a:ext>
            </a:extLst>
          </p:cNvPr>
          <p:cNvSpPr txBox="1">
            <a:spLocks/>
          </p:cNvSpPr>
          <p:nvPr/>
        </p:nvSpPr>
        <p:spPr>
          <a:xfrm>
            <a:off x="3429000" y="2176272"/>
            <a:ext cx="2423160" cy="3077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i="0">
                <a:solidFill>
                  <a:schemeClr val="bg1"/>
                </a:solidFill>
                <a:latin typeface="Ubuntu" panose="020B0504030602030204" pitchFamily="34" charset="0"/>
              </a:rPr>
              <a:t>Slow answers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AB05CD-043A-D43F-B189-CDD88B64B92D}"/>
              </a:ext>
            </a:extLst>
          </p:cNvPr>
          <p:cNvSpPr txBox="1">
            <a:spLocks/>
          </p:cNvSpPr>
          <p:nvPr/>
        </p:nvSpPr>
        <p:spPr>
          <a:xfrm>
            <a:off x="3429000" y="2871216"/>
            <a:ext cx="2331720" cy="126957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Manual reconciliation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Multiple spreadsheets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Inconsistent definitions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Days to respond</a:t>
            </a:r>
          </a:p>
        </p:txBody>
      </p:sp>
      <p:cxnSp>
        <p:nvCxnSpPr>
          <p:cNvPr id="23" name="Connector 14">
            <a:extLst>
              <a:ext uri="{FF2B5EF4-FFF2-40B4-BE49-F238E27FC236}">
                <a16:creationId xmlns:a16="http://schemas.microsoft.com/office/drawing/2014/main" id="{97557A93-275E-6F29-0169-6759E1D8F6A4}"/>
              </a:ext>
            </a:extLst>
          </p:cNvPr>
          <p:cNvCxnSpPr/>
          <p:nvPr/>
        </p:nvCxnSpPr>
        <p:spPr>
          <a:xfrm>
            <a:off x="6126480" y="1709928"/>
            <a:ext cx="0" cy="3758184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F283CF-7021-F139-899A-BAFC5FBECBA0}"/>
              </a:ext>
            </a:extLst>
          </p:cNvPr>
          <p:cNvSpPr txBox="1">
            <a:spLocks/>
          </p:cNvSpPr>
          <p:nvPr/>
        </p:nvSpPr>
        <p:spPr>
          <a:xfrm>
            <a:off x="6327648" y="162763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i="0">
                <a:solidFill>
                  <a:schemeClr val="bg1"/>
                </a:solidFill>
                <a:latin typeface="Ubuntu" panose="020B050403060203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67AD3C-5926-C452-79DF-E66DA709A78D}"/>
              </a:ext>
            </a:extLst>
          </p:cNvPr>
          <p:cNvSpPr txBox="1">
            <a:spLocks/>
          </p:cNvSpPr>
          <p:nvPr/>
        </p:nvSpPr>
        <p:spPr>
          <a:xfrm>
            <a:off x="6327648" y="2176272"/>
            <a:ext cx="2423160" cy="3077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i="0">
                <a:solidFill>
                  <a:schemeClr val="bg1"/>
                </a:solidFill>
                <a:latin typeface="Ubuntu" panose="020B0504030602030204" pitchFamily="34" charset="0"/>
              </a:rPr>
              <a:t>Reactive decisions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AB27F4-CC13-3FEC-E49A-905BD8C5E68D}"/>
              </a:ext>
            </a:extLst>
          </p:cNvPr>
          <p:cNvSpPr txBox="1">
            <a:spLocks/>
          </p:cNvSpPr>
          <p:nvPr/>
        </p:nvSpPr>
        <p:spPr>
          <a:xfrm>
            <a:off x="6327648" y="2871216"/>
            <a:ext cx="2331720" cy="150041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Late renewal visibility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Hidden concentration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Limited spend transparency</a:t>
            </a:r>
          </a:p>
          <a:p>
            <a:pPr marL="28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Little proactive action</a:t>
            </a:r>
          </a:p>
        </p:txBody>
      </p:sp>
      <p:cxnSp>
        <p:nvCxnSpPr>
          <p:cNvPr id="36" name="Connector 19">
            <a:extLst>
              <a:ext uri="{FF2B5EF4-FFF2-40B4-BE49-F238E27FC236}">
                <a16:creationId xmlns:a16="http://schemas.microsoft.com/office/drawing/2014/main" id="{38807F70-F480-849C-BDBF-2E74AE0BBCA9}"/>
              </a:ext>
            </a:extLst>
          </p:cNvPr>
          <p:cNvCxnSpPr/>
          <p:nvPr/>
        </p:nvCxnSpPr>
        <p:spPr>
          <a:xfrm>
            <a:off x="9025128" y="1709928"/>
            <a:ext cx="0" cy="3758184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FACF639-4D9D-B33C-7639-7A236224FA93}"/>
              </a:ext>
            </a:extLst>
          </p:cNvPr>
          <p:cNvSpPr txBox="1">
            <a:spLocks/>
          </p:cNvSpPr>
          <p:nvPr/>
        </p:nvSpPr>
        <p:spPr>
          <a:xfrm>
            <a:off x="9226296" y="162763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i="0">
                <a:solidFill>
                  <a:schemeClr val="bg1"/>
                </a:solidFill>
                <a:latin typeface="Ubuntu" panose="020B0504030602030204" pitchFamily="34" charset="0"/>
              </a:rPr>
              <a:t>04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C643CC-CC7D-C485-B69B-6CAED9668CB3}"/>
              </a:ext>
            </a:extLst>
          </p:cNvPr>
          <p:cNvSpPr txBox="1">
            <a:spLocks/>
          </p:cNvSpPr>
          <p:nvPr/>
        </p:nvSpPr>
        <p:spPr>
          <a:xfrm>
            <a:off x="9226296" y="2176272"/>
            <a:ext cx="2423160" cy="3077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 i="0">
                <a:solidFill>
                  <a:schemeClr val="bg1"/>
                </a:solidFill>
                <a:latin typeface="Ubuntu" panose="020B0504030602030204" pitchFamily="34" charset="0"/>
              </a:rPr>
              <a:t>No scenario clarity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0D2E2A-7D4F-FB85-7787-70F47372EA72}"/>
              </a:ext>
            </a:extLst>
          </p:cNvPr>
          <p:cNvSpPr txBox="1">
            <a:spLocks/>
          </p:cNvSpPr>
          <p:nvPr/>
        </p:nvSpPr>
        <p:spPr>
          <a:xfrm>
            <a:off x="9226296" y="2871216"/>
            <a:ext cx="2331720" cy="1731243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Hard to model reductions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Product impact unclear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Limited scenario support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Ubuntu" panose="020B0504030602030204" pitchFamily="34" charset="0"/>
              </a:rPr>
              <a:t>No Vendor 360 view</a:t>
            </a:r>
          </a:p>
        </p:txBody>
      </p:sp>
      <p:cxnSp>
        <p:nvCxnSpPr>
          <p:cNvPr id="42" name="Connector 23">
            <a:extLst>
              <a:ext uri="{FF2B5EF4-FFF2-40B4-BE49-F238E27FC236}">
                <a16:creationId xmlns:a16="http://schemas.microsoft.com/office/drawing/2014/main" id="{5742192C-11F6-0241-C911-90312079A8CF}"/>
              </a:ext>
            </a:extLst>
          </p:cNvPr>
          <p:cNvCxnSpPr/>
          <p:nvPr/>
        </p:nvCxnSpPr>
        <p:spPr>
          <a:xfrm>
            <a:off x="530352" y="5632704"/>
            <a:ext cx="11109960" cy="0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EBF5ED-078D-ADBE-0809-A2CDB49AF062}"/>
              </a:ext>
            </a:extLst>
          </p:cNvPr>
          <p:cNvSpPr txBox="1">
            <a:spLocks/>
          </p:cNvSpPr>
          <p:nvPr/>
        </p:nvSpPr>
        <p:spPr>
          <a:xfrm>
            <a:off x="530352" y="5852160"/>
            <a:ext cx="10972800" cy="27699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chemeClr val="bg1"/>
                </a:solidFill>
                <a:latin typeface="Ubuntu" panose="020B0504030602030204" pitchFamily="34" charset="0"/>
              </a:rPr>
              <a:t>The result: </a:t>
            </a:r>
            <a:r>
              <a:rPr lang="en-US" sz="1800" b="0" i="0" dirty="0">
                <a:solidFill>
                  <a:schemeClr val="bg1"/>
                </a:solidFill>
                <a:latin typeface="Ubuntu" panose="020B0504030602030204" pitchFamily="34" charset="0"/>
              </a:rPr>
              <a:t>teams reconcile data instead of managing decisions. </a:t>
            </a:r>
            <a:r>
              <a:rPr lang="en-US" sz="1800" b="1" i="0" dirty="0">
                <a:solidFill>
                  <a:schemeClr val="bg1"/>
                </a:solidFill>
                <a:latin typeface="Ubuntu" panose="020B0504030602030204" pitchFamily="34" charset="0"/>
              </a:rPr>
              <a:t>Optimization opportunities arrive late.</a:t>
            </a:r>
          </a:p>
        </p:txBody>
      </p:sp>
    </p:spTree>
    <p:extLst>
      <p:ext uri="{BB962C8B-B14F-4D97-AF65-F5344CB8AC3E}">
        <p14:creationId xmlns:p14="http://schemas.microsoft.com/office/powerpoint/2010/main" val="93215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D59F3D4B-2457-D1BC-B566-3C0FAD7026AA}"/>
              </a:ext>
            </a:extLst>
          </p:cNvPr>
          <p:cNvSpPr txBox="1"/>
          <p:nvPr/>
        </p:nvSpPr>
        <p:spPr>
          <a:xfrm>
            <a:off x="550863" y="219184"/>
            <a:ext cx="7291684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Ubuntu" panose="020B0504030602030204" pitchFamily="34" charset="0"/>
              </a:rPr>
              <a:t>Vendor Management Decision Intelligence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F4F4600-5A29-EAC4-B418-62B00EF1D904}"/>
              </a:ext>
            </a:extLst>
          </p:cNvPr>
          <p:cNvSpPr txBox="1"/>
          <p:nvPr/>
        </p:nvSpPr>
        <p:spPr>
          <a:xfrm>
            <a:off x="550863" y="549391"/>
            <a:ext cx="6066681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How the platform helps vendor management teams at large banks</a:t>
            </a:r>
            <a:endParaRPr lang="en-US" sz="12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51D864A-78BE-0450-CCC0-9A90BE6159B2}"/>
              </a:ext>
            </a:extLst>
          </p:cNvPr>
          <p:cNvSpPr/>
          <p:nvPr/>
        </p:nvSpPr>
        <p:spPr>
          <a:xfrm>
            <a:off x="116667" y="1150615"/>
            <a:ext cx="2756256" cy="4299915"/>
          </a:xfrm>
          <a:prstGeom prst="roundRect">
            <a:avLst>
              <a:gd name="adj" fmla="val 3981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C3DEC19-1CAC-5EC4-12C2-EFABEBFAB32E}"/>
              </a:ext>
            </a:extLst>
          </p:cNvPr>
          <p:cNvSpPr/>
          <p:nvPr/>
        </p:nvSpPr>
        <p:spPr>
          <a:xfrm>
            <a:off x="116667" y="1109135"/>
            <a:ext cx="2756256" cy="624519"/>
          </a:xfrm>
          <a:prstGeom prst="roundRect">
            <a:avLst/>
          </a:prstGeom>
          <a:solidFill>
            <a:srgbClr val="075EC7"/>
          </a:solidFill>
          <a:ln w="1270">
            <a:solidFill>
              <a:srgbClr val="075EC7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9D386B7-85D9-62B8-31A7-BC77897587FF}"/>
              </a:ext>
            </a:extLst>
          </p:cNvPr>
          <p:cNvSpPr/>
          <p:nvPr/>
        </p:nvSpPr>
        <p:spPr>
          <a:xfrm>
            <a:off x="277084" y="1274511"/>
            <a:ext cx="313542" cy="313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475DE09-F108-3EC3-E1ED-1B896AB63897}"/>
              </a:ext>
            </a:extLst>
          </p:cNvPr>
          <p:cNvSpPr txBox="1"/>
          <p:nvPr/>
        </p:nvSpPr>
        <p:spPr>
          <a:xfrm>
            <a:off x="277084" y="1267223"/>
            <a:ext cx="31354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5EC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B050A90-492D-6829-4F63-4832440FC6FC}"/>
              </a:ext>
            </a:extLst>
          </p:cNvPr>
          <p:cNvSpPr txBox="1"/>
          <p:nvPr/>
        </p:nvSpPr>
        <p:spPr>
          <a:xfrm>
            <a:off x="685418" y="1189303"/>
            <a:ext cx="2100005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Data Inputs &amp; Vendor Ecosystem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307C5F0-A5AC-80EB-B0FE-35CD53B71D2C}"/>
              </a:ext>
            </a:extLst>
          </p:cNvPr>
          <p:cNvSpPr txBox="1"/>
          <p:nvPr/>
        </p:nvSpPr>
        <p:spPr>
          <a:xfrm>
            <a:off x="685418" y="1505479"/>
            <a:ext cx="2100005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Enterprise data, vendor systems and external inputs</a:t>
            </a:r>
            <a:endParaRPr lang="en-US" sz="800" dirty="0">
              <a:latin typeface="Ubuntu" panose="020B0504030602030204" pitchFamily="34" charset="0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2966FAB-85F8-9F21-5B3A-2A8AD1526873}"/>
              </a:ext>
            </a:extLst>
          </p:cNvPr>
          <p:cNvSpPr/>
          <p:nvPr/>
        </p:nvSpPr>
        <p:spPr>
          <a:xfrm>
            <a:off x="2953132" y="1150615"/>
            <a:ext cx="3310424" cy="4299915"/>
          </a:xfrm>
          <a:prstGeom prst="roundRect">
            <a:avLst>
              <a:gd name="adj" fmla="val 3315"/>
            </a:avLst>
          </a:prstGeom>
          <a:solidFill>
            <a:schemeClr val="accent2">
              <a:lumMod val="25000"/>
              <a:lumOff val="75000"/>
            </a:schemeClr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754E75F-D41B-8818-B63A-F1ADD93C69DB}"/>
              </a:ext>
            </a:extLst>
          </p:cNvPr>
          <p:cNvSpPr/>
          <p:nvPr/>
        </p:nvSpPr>
        <p:spPr>
          <a:xfrm>
            <a:off x="2953132" y="1109135"/>
            <a:ext cx="3310424" cy="624519"/>
          </a:xfrm>
          <a:prstGeom prst="roundRect">
            <a:avLst/>
          </a:prstGeom>
          <a:solidFill>
            <a:srgbClr val="6C11C9"/>
          </a:solidFill>
          <a:ln w="1270">
            <a:solidFill>
              <a:srgbClr val="6C11C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343E244-44B2-A52B-6F1B-F990007688FB}"/>
              </a:ext>
            </a:extLst>
          </p:cNvPr>
          <p:cNvSpPr/>
          <p:nvPr/>
        </p:nvSpPr>
        <p:spPr>
          <a:xfrm>
            <a:off x="3113549" y="1274511"/>
            <a:ext cx="313542" cy="313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C9397F37-AC76-7FB7-7F30-BCE83089334F}"/>
              </a:ext>
            </a:extLst>
          </p:cNvPr>
          <p:cNvSpPr txBox="1"/>
          <p:nvPr/>
        </p:nvSpPr>
        <p:spPr>
          <a:xfrm>
            <a:off x="3113549" y="1267223"/>
            <a:ext cx="31354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11C9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715345F-BF9E-55D0-E09A-53A63C6D9726}"/>
              </a:ext>
            </a:extLst>
          </p:cNvPr>
          <p:cNvSpPr txBox="1"/>
          <p:nvPr/>
        </p:nvSpPr>
        <p:spPr>
          <a:xfrm>
            <a:off x="3521883" y="1189303"/>
            <a:ext cx="2654173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Intelligence Platform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1BCC3A3-DAC4-D0BA-6198-471366A612F4}"/>
              </a:ext>
            </a:extLst>
          </p:cNvPr>
          <p:cNvSpPr txBox="1"/>
          <p:nvPr/>
        </p:nvSpPr>
        <p:spPr>
          <a:xfrm>
            <a:off x="3521883" y="1505479"/>
            <a:ext cx="2654173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Multi-agent orchestration for vendor management</a:t>
            </a:r>
            <a:endParaRPr lang="en-US" sz="800" dirty="0">
              <a:latin typeface="Ubuntu" panose="020B0504030602030204" pitchFamily="34" charset="0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10477C95-B728-AA80-8985-DF2A678BA7B5}"/>
              </a:ext>
            </a:extLst>
          </p:cNvPr>
          <p:cNvSpPr/>
          <p:nvPr/>
        </p:nvSpPr>
        <p:spPr>
          <a:xfrm>
            <a:off x="6365640" y="1150615"/>
            <a:ext cx="2668756" cy="4299915"/>
          </a:xfrm>
          <a:prstGeom prst="roundRect">
            <a:avLst>
              <a:gd name="adj" fmla="val 4112"/>
            </a:avLst>
          </a:prstGeom>
          <a:solidFill>
            <a:srgbClr val="50F3A9"/>
          </a:solidFill>
          <a:ln w="12700">
            <a:solidFill>
              <a:srgbClr val="55B8B3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C279A06-B775-1F7A-910B-3046B4E2E9D0}"/>
              </a:ext>
            </a:extLst>
          </p:cNvPr>
          <p:cNvSpPr/>
          <p:nvPr/>
        </p:nvSpPr>
        <p:spPr>
          <a:xfrm>
            <a:off x="6365640" y="1109135"/>
            <a:ext cx="2668756" cy="624519"/>
          </a:xfrm>
          <a:prstGeom prst="roundRect">
            <a:avLst/>
          </a:prstGeom>
          <a:solidFill>
            <a:srgbClr val="0B8C87"/>
          </a:solidFill>
          <a:ln w="1270">
            <a:solidFill>
              <a:srgbClr val="0B8C87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9557437-6A9B-E935-1727-D15FB3F03385}"/>
              </a:ext>
            </a:extLst>
          </p:cNvPr>
          <p:cNvSpPr/>
          <p:nvPr/>
        </p:nvSpPr>
        <p:spPr>
          <a:xfrm>
            <a:off x="6526057" y="1274511"/>
            <a:ext cx="313542" cy="313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91F868BF-7F9B-97ED-E8EB-FC704C14A226}"/>
              </a:ext>
            </a:extLst>
          </p:cNvPr>
          <p:cNvSpPr txBox="1"/>
          <p:nvPr/>
        </p:nvSpPr>
        <p:spPr>
          <a:xfrm>
            <a:off x="6526057" y="1267223"/>
            <a:ext cx="31354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8C8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7F588A75-20CC-12B1-5615-0CA05573BFBC}"/>
              </a:ext>
            </a:extLst>
          </p:cNvPr>
          <p:cNvSpPr txBox="1"/>
          <p:nvPr/>
        </p:nvSpPr>
        <p:spPr>
          <a:xfrm>
            <a:off x="6934391" y="1189303"/>
            <a:ext cx="2012505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Knowledge &amp; Data Foundation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010BE8DD-A40C-4D34-DF36-74E2182BCB91}"/>
              </a:ext>
            </a:extLst>
          </p:cNvPr>
          <p:cNvSpPr txBox="1"/>
          <p:nvPr/>
        </p:nvSpPr>
        <p:spPr>
          <a:xfrm>
            <a:off x="6934391" y="1505479"/>
            <a:ext cx="2012505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Unified, trusted and connected enterprise knowledge</a:t>
            </a:r>
            <a:endParaRPr lang="en-US" sz="800" dirty="0">
              <a:latin typeface="Ubuntu" panose="020B0504030602030204" pitchFamily="34" charset="0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B993175-2DE9-2C80-88DA-3CCECFAF69CC}"/>
              </a:ext>
            </a:extLst>
          </p:cNvPr>
          <p:cNvSpPr/>
          <p:nvPr/>
        </p:nvSpPr>
        <p:spPr>
          <a:xfrm>
            <a:off x="9129188" y="1150615"/>
            <a:ext cx="2770840" cy="4299915"/>
          </a:xfrm>
          <a:prstGeom prst="roundRect">
            <a:avLst>
              <a:gd name="adj" fmla="val 3960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E661C4C0-3523-85C6-BB72-59428CBE248E}"/>
              </a:ext>
            </a:extLst>
          </p:cNvPr>
          <p:cNvSpPr/>
          <p:nvPr/>
        </p:nvSpPr>
        <p:spPr>
          <a:xfrm>
            <a:off x="9129188" y="1109135"/>
            <a:ext cx="2770840" cy="624519"/>
          </a:xfrm>
          <a:prstGeom prst="roundRect">
            <a:avLst/>
          </a:prstGeom>
          <a:solidFill>
            <a:schemeClr val="accent4"/>
          </a:solidFill>
          <a:ln w="1270">
            <a:solidFill>
              <a:srgbClr val="F04A0B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4EDD6ACD-CAD5-A6AC-03C0-F9EFB8AD9BFC}"/>
              </a:ext>
            </a:extLst>
          </p:cNvPr>
          <p:cNvSpPr/>
          <p:nvPr/>
        </p:nvSpPr>
        <p:spPr>
          <a:xfrm>
            <a:off x="9289605" y="1274511"/>
            <a:ext cx="313542" cy="313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0C72AB14-5D28-F95F-459C-D2818EE5E020}"/>
              </a:ext>
            </a:extLst>
          </p:cNvPr>
          <p:cNvSpPr txBox="1"/>
          <p:nvPr/>
        </p:nvSpPr>
        <p:spPr>
          <a:xfrm>
            <a:off x="9289605" y="1267223"/>
            <a:ext cx="31354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4A0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2BA67695-E5AB-FE24-3EFC-F4241D9831A4}"/>
              </a:ext>
            </a:extLst>
          </p:cNvPr>
          <p:cNvSpPr txBox="1"/>
          <p:nvPr/>
        </p:nvSpPr>
        <p:spPr>
          <a:xfrm>
            <a:off x="9624786" y="1189303"/>
            <a:ext cx="266474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Business Outcomes &amp; Decision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30A9F012-B0B7-F260-A6F7-3FC970B1C529}"/>
              </a:ext>
            </a:extLst>
          </p:cNvPr>
          <p:cNvSpPr txBox="1"/>
          <p:nvPr/>
        </p:nvSpPr>
        <p:spPr>
          <a:xfrm>
            <a:off x="9636979" y="1529863"/>
            <a:ext cx="2114588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Actionable insights for stronger vendor management</a:t>
            </a:r>
            <a:endParaRPr lang="en-US" sz="800" dirty="0">
              <a:latin typeface="Ubuntu" panose="020B0504030602030204" pitchFamily="34" charset="0"/>
            </a:endParaRP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D11EDDB2-9A7D-7A23-D892-A7CA97A1B6CB}"/>
              </a:ext>
            </a:extLst>
          </p:cNvPr>
          <p:cNvSpPr/>
          <p:nvPr/>
        </p:nvSpPr>
        <p:spPr>
          <a:xfrm>
            <a:off x="247917" y="1777382"/>
            <a:ext cx="2493756" cy="444567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BF9BAE77-E5DD-E167-E118-EC30EA721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876" y="1893990"/>
            <a:ext cx="277084" cy="276944"/>
          </a:xfrm>
          <a:prstGeom prst="rect">
            <a:avLst/>
          </a:prstGeom>
        </p:spPr>
      </p:pic>
      <p:sp>
        <p:nvSpPr>
          <p:cNvPr id="34" name="Text 33">
            <a:extLst>
              <a:ext uri="{FF2B5EF4-FFF2-40B4-BE49-F238E27FC236}">
                <a16:creationId xmlns:a16="http://schemas.microsoft.com/office/drawing/2014/main" id="{BCD69D2B-8317-431E-2E0B-857F24886E6D}"/>
              </a:ext>
            </a:extLst>
          </p:cNvPr>
          <p:cNvSpPr txBox="1"/>
          <p:nvPr/>
        </p:nvSpPr>
        <p:spPr>
          <a:xfrm>
            <a:off x="802085" y="1879414"/>
            <a:ext cx="182292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Contracts &amp; SOWs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12AB5564-EDF8-C84A-1E7D-CB3FB8743D79}"/>
              </a:ext>
            </a:extLst>
          </p:cNvPr>
          <p:cNvSpPr txBox="1"/>
          <p:nvPr/>
        </p:nvSpPr>
        <p:spPr>
          <a:xfrm>
            <a:off x="802085" y="2039750"/>
            <a:ext cx="182292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Icertis, Sirion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55660B54-D75F-873D-3501-EE1AFFD28E06}"/>
              </a:ext>
            </a:extLst>
          </p:cNvPr>
          <p:cNvSpPr/>
          <p:nvPr/>
        </p:nvSpPr>
        <p:spPr>
          <a:xfrm>
            <a:off x="247917" y="2316694"/>
            <a:ext cx="2493756" cy="444567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27AB8674-3ACD-6303-C548-98F8001B9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876" y="2433302"/>
            <a:ext cx="277084" cy="276944"/>
          </a:xfrm>
          <a:prstGeom prst="rect">
            <a:avLst/>
          </a:prstGeom>
        </p:spPr>
      </p:pic>
      <p:sp>
        <p:nvSpPr>
          <p:cNvPr id="38" name="Text 36">
            <a:extLst>
              <a:ext uri="{FF2B5EF4-FFF2-40B4-BE49-F238E27FC236}">
                <a16:creationId xmlns:a16="http://schemas.microsoft.com/office/drawing/2014/main" id="{7FADD1A5-9725-AA51-BD3F-4B4B9CFAFB8E}"/>
              </a:ext>
            </a:extLst>
          </p:cNvPr>
          <p:cNvSpPr txBox="1"/>
          <p:nvPr/>
        </p:nvSpPr>
        <p:spPr>
          <a:xfrm>
            <a:off x="802085" y="2418726"/>
            <a:ext cx="182292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GL / Spend Data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005E543-B8C2-AB3B-27CB-C591DA7FD251}"/>
              </a:ext>
            </a:extLst>
          </p:cNvPr>
          <p:cNvSpPr txBox="1"/>
          <p:nvPr/>
        </p:nvSpPr>
        <p:spPr>
          <a:xfrm>
            <a:off x="802085" y="2579061"/>
            <a:ext cx="182292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Coupa, SAP Ariba, Ivalua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3E874B3-5C51-F495-E8F5-93044E1902A0}"/>
              </a:ext>
            </a:extLst>
          </p:cNvPr>
          <p:cNvSpPr/>
          <p:nvPr/>
        </p:nvSpPr>
        <p:spPr>
          <a:xfrm>
            <a:off x="247917" y="2856005"/>
            <a:ext cx="2493756" cy="444567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E66D5AF0-280F-53D8-F5C0-1E925BEB8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76" y="2972613"/>
            <a:ext cx="277084" cy="276944"/>
          </a:xfrm>
          <a:prstGeom prst="rect">
            <a:avLst/>
          </a:prstGeom>
        </p:spPr>
      </p:pic>
      <p:sp>
        <p:nvSpPr>
          <p:cNvPr id="42" name="Text 39">
            <a:extLst>
              <a:ext uri="{FF2B5EF4-FFF2-40B4-BE49-F238E27FC236}">
                <a16:creationId xmlns:a16="http://schemas.microsoft.com/office/drawing/2014/main" id="{75FA63A4-109E-A57C-820E-AF3C0F0FD4E2}"/>
              </a:ext>
            </a:extLst>
          </p:cNvPr>
          <p:cNvSpPr txBox="1"/>
          <p:nvPr/>
        </p:nvSpPr>
        <p:spPr>
          <a:xfrm>
            <a:off x="802085" y="2958037"/>
            <a:ext cx="182292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Roster / External Workforce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E252D5F0-EC0F-BE17-1774-3BDC021BCEE3}"/>
              </a:ext>
            </a:extLst>
          </p:cNvPr>
          <p:cNvSpPr txBox="1"/>
          <p:nvPr/>
        </p:nvSpPr>
        <p:spPr>
          <a:xfrm>
            <a:off x="802085" y="3118373"/>
            <a:ext cx="182292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SAP Fieldglass, Beeline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E856E791-4A99-4FA3-BC21-EA8683DE6D76}"/>
              </a:ext>
            </a:extLst>
          </p:cNvPr>
          <p:cNvSpPr/>
          <p:nvPr/>
        </p:nvSpPr>
        <p:spPr>
          <a:xfrm>
            <a:off x="247917" y="3395317"/>
            <a:ext cx="2493756" cy="444567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BE4C5B9E-356C-CA45-3B11-C4C1F77AC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876" y="3511924"/>
            <a:ext cx="277084" cy="276944"/>
          </a:xfrm>
          <a:prstGeom prst="rect">
            <a:avLst/>
          </a:prstGeom>
        </p:spPr>
      </p:pic>
      <p:sp>
        <p:nvSpPr>
          <p:cNvPr id="46" name="Text 42">
            <a:extLst>
              <a:ext uri="{FF2B5EF4-FFF2-40B4-BE49-F238E27FC236}">
                <a16:creationId xmlns:a16="http://schemas.microsoft.com/office/drawing/2014/main" id="{864E8F97-0DBD-F867-C78D-08D58BAF4976}"/>
              </a:ext>
            </a:extLst>
          </p:cNvPr>
          <p:cNvSpPr txBox="1"/>
          <p:nvPr/>
        </p:nvSpPr>
        <p:spPr>
          <a:xfrm>
            <a:off x="802085" y="3497348"/>
            <a:ext cx="182292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Vendor Master &amp; Performance Data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E75B8525-4341-06B4-1EF5-EE666A5970AF}"/>
              </a:ext>
            </a:extLst>
          </p:cNvPr>
          <p:cNvSpPr txBox="1"/>
          <p:nvPr/>
        </p:nvSpPr>
        <p:spPr>
          <a:xfrm>
            <a:off x="802085" y="3657684"/>
            <a:ext cx="182292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ERP, TPRM, scorecards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F784F4F9-1E19-E8FE-05CF-E5627C3E52A4}"/>
              </a:ext>
            </a:extLst>
          </p:cNvPr>
          <p:cNvSpPr/>
          <p:nvPr/>
        </p:nvSpPr>
        <p:spPr>
          <a:xfrm>
            <a:off x="247917" y="3934628"/>
            <a:ext cx="2493756" cy="444567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49" name="Image 4" descr="preencoded.png">
            <a:extLst>
              <a:ext uri="{FF2B5EF4-FFF2-40B4-BE49-F238E27FC236}">
                <a16:creationId xmlns:a16="http://schemas.microsoft.com/office/drawing/2014/main" id="{2CBD9182-0FE6-C0BA-7FCF-49BDAD13DD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876" y="4051236"/>
            <a:ext cx="277084" cy="276944"/>
          </a:xfrm>
          <a:prstGeom prst="rect">
            <a:avLst/>
          </a:prstGeom>
        </p:spPr>
      </p:pic>
      <p:sp>
        <p:nvSpPr>
          <p:cNvPr id="50" name="Text 45">
            <a:extLst>
              <a:ext uri="{FF2B5EF4-FFF2-40B4-BE49-F238E27FC236}">
                <a16:creationId xmlns:a16="http://schemas.microsoft.com/office/drawing/2014/main" id="{00EFF535-94C2-F4B9-7795-E84404135882}"/>
              </a:ext>
            </a:extLst>
          </p:cNvPr>
          <p:cNvSpPr txBox="1"/>
          <p:nvPr/>
        </p:nvSpPr>
        <p:spPr>
          <a:xfrm>
            <a:off x="802085" y="4036660"/>
            <a:ext cx="182292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AI / OU / Product Hierarchies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3120EB0B-3DE6-A34D-2A76-F88B62E1F97A}"/>
              </a:ext>
            </a:extLst>
          </p:cNvPr>
          <p:cNvSpPr txBox="1"/>
          <p:nvPr/>
        </p:nvSpPr>
        <p:spPr>
          <a:xfrm>
            <a:off x="802085" y="4196996"/>
            <a:ext cx="182292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Enterprise org &amp; product data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52" name="Shape 47">
            <a:extLst>
              <a:ext uri="{FF2B5EF4-FFF2-40B4-BE49-F238E27FC236}">
                <a16:creationId xmlns:a16="http://schemas.microsoft.com/office/drawing/2014/main" id="{4FF9323C-CA4E-D39A-22F3-7220DFBD2A82}"/>
              </a:ext>
            </a:extLst>
          </p:cNvPr>
          <p:cNvSpPr/>
          <p:nvPr/>
        </p:nvSpPr>
        <p:spPr>
          <a:xfrm>
            <a:off x="247917" y="4473939"/>
            <a:ext cx="2493756" cy="444567"/>
          </a:xfrm>
          <a:prstGeom prst="roundRect">
            <a:avLst>
              <a:gd name="adj" fmla="val 16455"/>
            </a:avLst>
          </a:prstGeom>
          <a:solidFill>
            <a:srgbClr val="FFFFFF"/>
          </a:solidFill>
          <a:ln w="12700">
            <a:solidFill>
              <a:srgbClr val="5D9DE6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53" name="Image 5" descr="preencoded.png">
            <a:extLst>
              <a:ext uri="{FF2B5EF4-FFF2-40B4-BE49-F238E27FC236}">
                <a16:creationId xmlns:a16="http://schemas.microsoft.com/office/drawing/2014/main" id="{1EB2483E-6D1B-52E3-4252-110AD1BAE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876" y="4590547"/>
            <a:ext cx="277084" cy="276944"/>
          </a:xfrm>
          <a:prstGeom prst="rect">
            <a:avLst/>
          </a:prstGeom>
        </p:spPr>
      </p:pic>
      <p:sp>
        <p:nvSpPr>
          <p:cNvPr id="54" name="Text 48">
            <a:extLst>
              <a:ext uri="{FF2B5EF4-FFF2-40B4-BE49-F238E27FC236}">
                <a16:creationId xmlns:a16="http://schemas.microsoft.com/office/drawing/2014/main" id="{A6EA326E-4666-31EC-C91B-85003FABB2AC}"/>
              </a:ext>
            </a:extLst>
          </p:cNvPr>
          <p:cNvSpPr txBox="1"/>
          <p:nvPr/>
        </p:nvSpPr>
        <p:spPr>
          <a:xfrm>
            <a:off x="802085" y="4575971"/>
            <a:ext cx="1822921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Historical Snapshots &amp; Versions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AD5E2F15-F259-C362-D172-E9E3E6E73A35}"/>
              </a:ext>
            </a:extLst>
          </p:cNvPr>
          <p:cNvSpPr txBox="1"/>
          <p:nvPr/>
        </p:nvSpPr>
        <p:spPr>
          <a:xfrm>
            <a:off x="802085" y="4736307"/>
            <a:ext cx="1822921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Weekly / monthly point-in-time views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56" name="Shape 50">
            <a:extLst>
              <a:ext uri="{FF2B5EF4-FFF2-40B4-BE49-F238E27FC236}">
                <a16:creationId xmlns:a16="http://schemas.microsoft.com/office/drawing/2014/main" id="{B7F21D72-4240-AFD6-2B77-4850526FB9E2}"/>
              </a:ext>
            </a:extLst>
          </p:cNvPr>
          <p:cNvSpPr/>
          <p:nvPr/>
        </p:nvSpPr>
        <p:spPr>
          <a:xfrm>
            <a:off x="211459" y="5056979"/>
            <a:ext cx="2588548" cy="306096"/>
          </a:xfrm>
          <a:prstGeom prst="roundRect">
            <a:avLst>
              <a:gd name="adj" fmla="val 17924"/>
            </a:avLst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25F786ED-5063-1998-03B3-100B08F7BF0E}"/>
              </a:ext>
            </a:extLst>
          </p:cNvPr>
          <p:cNvSpPr txBox="1"/>
          <p:nvPr/>
        </p:nvSpPr>
        <p:spPr>
          <a:xfrm>
            <a:off x="452084" y="5107995"/>
            <a:ext cx="2114588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0F4A98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Illustrative source systems and enterprise inputs</a:t>
            </a:r>
            <a:endParaRPr lang="en-US" sz="840" dirty="0">
              <a:latin typeface="Ubuntu" panose="020B0504030602030204" pitchFamily="34" charset="0"/>
            </a:endParaRPr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AF189ECD-1689-72FE-D07F-F220E3ACED65}"/>
              </a:ext>
            </a:extLst>
          </p:cNvPr>
          <p:cNvSpPr/>
          <p:nvPr/>
        </p:nvSpPr>
        <p:spPr>
          <a:xfrm>
            <a:off x="3069799" y="1784670"/>
            <a:ext cx="3077091" cy="699647"/>
          </a:xfrm>
          <a:prstGeom prst="roundRect">
            <a:avLst>
              <a:gd name="adj" fmla="val 7842"/>
            </a:avLst>
          </a:prstGeom>
          <a:solidFill>
            <a:srgbClr val="F5EE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59" name="Image 6" descr="preencoded.png">
            <a:extLst>
              <a:ext uri="{FF2B5EF4-FFF2-40B4-BE49-F238E27FC236}">
                <a16:creationId xmlns:a16="http://schemas.microsoft.com/office/drawing/2014/main" id="{F56D6665-0056-A855-C3BC-1F702F8FE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75009" y="1886702"/>
            <a:ext cx="306251" cy="306096"/>
          </a:xfrm>
          <a:prstGeom prst="rect">
            <a:avLst/>
          </a:prstGeom>
        </p:spPr>
      </p:pic>
      <p:sp>
        <p:nvSpPr>
          <p:cNvPr id="60" name="Text 53">
            <a:extLst>
              <a:ext uri="{FF2B5EF4-FFF2-40B4-BE49-F238E27FC236}">
                <a16:creationId xmlns:a16="http://schemas.microsoft.com/office/drawing/2014/main" id="{62D224D4-9A81-2CAB-DCD6-AB15E8161042}"/>
              </a:ext>
            </a:extLst>
          </p:cNvPr>
          <p:cNvSpPr txBox="1"/>
          <p:nvPr/>
        </p:nvSpPr>
        <p:spPr>
          <a:xfrm>
            <a:off x="4097926" y="1828398"/>
            <a:ext cx="1786463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NOVA Supervisor /</a:t>
            </a:r>
            <a:endParaRPr lang="en-US" sz="135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3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LangGraph Orchestration</a:t>
            </a:r>
            <a:endParaRPr lang="en-US" sz="1350" dirty="0">
              <a:latin typeface="Ubuntu" panose="020B0504030602030204" pitchFamily="34" charset="0"/>
            </a:endParaRPr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B566BECD-8567-A331-4500-43D2E2D0156C}"/>
              </a:ext>
            </a:extLst>
          </p:cNvPr>
          <p:cNvSpPr txBox="1"/>
          <p:nvPr/>
        </p:nvSpPr>
        <p:spPr>
          <a:xfrm>
            <a:off x="3434383" y="2221950"/>
            <a:ext cx="233333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10" dirty="0">
                <a:solidFill>
                  <a:srgbClr val="4A34A0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Plans, orchestrates and coordinates specialized agents</a:t>
            </a:r>
            <a:endParaRPr lang="en-US" sz="810" dirty="0">
              <a:latin typeface="Ubuntu" panose="020B0504030602030204" pitchFamily="34" charset="0"/>
            </a:endParaRPr>
          </a:p>
        </p:txBody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98ADFCD0-9969-E03E-08DD-BE0A3D526896}"/>
              </a:ext>
            </a:extLst>
          </p:cNvPr>
          <p:cNvSpPr/>
          <p:nvPr/>
        </p:nvSpPr>
        <p:spPr>
          <a:xfrm>
            <a:off x="4622927" y="2484318"/>
            <a:ext cx="0" cy="189488"/>
          </a:xfrm>
          <a:prstGeom prst="line">
            <a:avLst/>
          </a:prstGeom>
          <a:noFill/>
          <a:ln w="19050">
            <a:solidFill>
              <a:srgbClr val="6C11C9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3" name="Shape 56">
            <a:extLst>
              <a:ext uri="{FF2B5EF4-FFF2-40B4-BE49-F238E27FC236}">
                <a16:creationId xmlns:a16="http://schemas.microsoft.com/office/drawing/2014/main" id="{F930E361-66C7-4F14-D683-1F54C89B4E1B}"/>
              </a:ext>
            </a:extLst>
          </p:cNvPr>
          <p:cNvSpPr/>
          <p:nvPr/>
        </p:nvSpPr>
        <p:spPr>
          <a:xfrm>
            <a:off x="3500008" y="2673805"/>
            <a:ext cx="2187505" cy="0"/>
          </a:xfrm>
          <a:prstGeom prst="line">
            <a:avLst/>
          </a:prstGeom>
          <a:noFill/>
          <a:ln w="16510">
            <a:solidFill>
              <a:srgbClr val="6C11C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4" name="Shape 57">
            <a:extLst>
              <a:ext uri="{FF2B5EF4-FFF2-40B4-BE49-F238E27FC236}">
                <a16:creationId xmlns:a16="http://schemas.microsoft.com/office/drawing/2014/main" id="{61AF4C54-545A-7819-3CC8-3D6BBF1363A4}"/>
              </a:ext>
            </a:extLst>
          </p:cNvPr>
          <p:cNvSpPr/>
          <p:nvPr/>
        </p:nvSpPr>
        <p:spPr>
          <a:xfrm>
            <a:off x="3500008" y="2673805"/>
            <a:ext cx="0" cy="87456"/>
          </a:xfrm>
          <a:prstGeom prst="line">
            <a:avLst/>
          </a:prstGeom>
          <a:noFill/>
          <a:ln w="16510">
            <a:solidFill>
              <a:srgbClr val="6C11C9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8FF5873A-B400-00AD-BF24-C0CEA1F6BD2F}"/>
              </a:ext>
            </a:extLst>
          </p:cNvPr>
          <p:cNvSpPr/>
          <p:nvPr/>
        </p:nvSpPr>
        <p:spPr>
          <a:xfrm>
            <a:off x="4615636" y="2673805"/>
            <a:ext cx="0" cy="87456"/>
          </a:xfrm>
          <a:prstGeom prst="line">
            <a:avLst/>
          </a:prstGeom>
          <a:noFill/>
          <a:ln w="16510">
            <a:solidFill>
              <a:srgbClr val="6C11C9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6" name="Shape 59">
            <a:extLst>
              <a:ext uri="{FF2B5EF4-FFF2-40B4-BE49-F238E27FC236}">
                <a16:creationId xmlns:a16="http://schemas.microsoft.com/office/drawing/2014/main" id="{8A45D147-34D0-2646-3FD6-5E516827FF10}"/>
              </a:ext>
            </a:extLst>
          </p:cNvPr>
          <p:cNvSpPr/>
          <p:nvPr/>
        </p:nvSpPr>
        <p:spPr>
          <a:xfrm>
            <a:off x="5687513" y="2673805"/>
            <a:ext cx="0" cy="87456"/>
          </a:xfrm>
          <a:prstGeom prst="line">
            <a:avLst/>
          </a:prstGeom>
          <a:noFill/>
          <a:ln w="16510">
            <a:solidFill>
              <a:srgbClr val="6C11C9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7" name="Shape 60">
            <a:extLst>
              <a:ext uri="{FF2B5EF4-FFF2-40B4-BE49-F238E27FC236}">
                <a16:creationId xmlns:a16="http://schemas.microsoft.com/office/drawing/2014/main" id="{48BBAEB2-E9B6-CA77-B233-BE47797EE45C}"/>
              </a:ext>
            </a:extLst>
          </p:cNvPr>
          <p:cNvSpPr/>
          <p:nvPr/>
        </p:nvSpPr>
        <p:spPr>
          <a:xfrm>
            <a:off x="3069799" y="2768549"/>
            <a:ext cx="984377" cy="1049471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68" name="Image 7" descr="preencoded.png">
            <a:extLst>
              <a:ext uri="{FF2B5EF4-FFF2-40B4-BE49-F238E27FC236}">
                <a16:creationId xmlns:a16="http://schemas.microsoft.com/office/drawing/2014/main" id="{B8310BB2-7E17-1E3D-4716-87EE356BE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5321" y="2870581"/>
            <a:ext cx="233334" cy="218640"/>
          </a:xfrm>
          <a:prstGeom prst="rect">
            <a:avLst/>
          </a:prstGeom>
        </p:spPr>
      </p:pic>
      <p:sp>
        <p:nvSpPr>
          <p:cNvPr id="69" name="Text 61">
            <a:extLst>
              <a:ext uri="{FF2B5EF4-FFF2-40B4-BE49-F238E27FC236}">
                <a16:creationId xmlns:a16="http://schemas.microsoft.com/office/drawing/2014/main" id="{3E297DEB-A307-702B-8C27-0A3C1EA62F63}"/>
              </a:ext>
            </a:extLst>
          </p:cNvPr>
          <p:cNvSpPr txBox="1"/>
          <p:nvPr/>
        </p:nvSpPr>
        <p:spPr>
          <a:xfrm>
            <a:off x="3128132" y="3118373"/>
            <a:ext cx="867710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Vendor 360</a:t>
            </a:r>
            <a:endParaRPr lang="en-US" sz="9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70" name="Text 62">
            <a:extLst>
              <a:ext uri="{FF2B5EF4-FFF2-40B4-BE49-F238E27FC236}">
                <a16:creationId xmlns:a16="http://schemas.microsoft.com/office/drawing/2014/main" id="{B6DDF38C-5B68-7273-637D-921B46557C7B}"/>
              </a:ext>
            </a:extLst>
          </p:cNvPr>
          <p:cNvSpPr txBox="1"/>
          <p:nvPr/>
        </p:nvSpPr>
        <p:spPr>
          <a:xfrm>
            <a:off x="3142716" y="3366165"/>
            <a:ext cx="838544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Unified view across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contracts, spend,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740" dirty="0">
              <a:latin typeface="Ubuntu" panose="020B0504030602030204" pitchFamily="34" charset="0"/>
            </a:endParaRPr>
          </a:p>
        </p:txBody>
      </p:sp>
      <p:sp>
        <p:nvSpPr>
          <p:cNvPr id="71" name="Shape 63">
            <a:extLst>
              <a:ext uri="{FF2B5EF4-FFF2-40B4-BE49-F238E27FC236}">
                <a16:creationId xmlns:a16="http://schemas.microsoft.com/office/drawing/2014/main" id="{1F9D52AC-7A0A-0EF8-DEC9-6C6A530A298B}"/>
              </a:ext>
            </a:extLst>
          </p:cNvPr>
          <p:cNvSpPr/>
          <p:nvPr/>
        </p:nvSpPr>
        <p:spPr>
          <a:xfrm>
            <a:off x="4127093" y="2768549"/>
            <a:ext cx="984377" cy="1049471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72" name="Image 8" descr="preencoded.png">
            <a:extLst>
              <a:ext uri="{FF2B5EF4-FFF2-40B4-BE49-F238E27FC236}">
                <a16:creationId xmlns:a16="http://schemas.microsoft.com/office/drawing/2014/main" id="{FF4319AD-4830-311D-48A6-6892E273A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02615" y="2870581"/>
            <a:ext cx="233334" cy="218640"/>
          </a:xfrm>
          <a:prstGeom prst="rect">
            <a:avLst/>
          </a:prstGeom>
        </p:spPr>
      </p:pic>
      <p:sp>
        <p:nvSpPr>
          <p:cNvPr id="73" name="Text 64">
            <a:extLst>
              <a:ext uri="{FF2B5EF4-FFF2-40B4-BE49-F238E27FC236}">
                <a16:creationId xmlns:a16="http://schemas.microsoft.com/office/drawing/2014/main" id="{7A4BB26B-2BD8-8409-8FF7-6417AF6C709B}"/>
              </a:ext>
            </a:extLst>
          </p:cNvPr>
          <p:cNvSpPr txBox="1"/>
          <p:nvPr/>
        </p:nvSpPr>
        <p:spPr>
          <a:xfrm>
            <a:off x="4185426" y="3118373"/>
            <a:ext cx="867710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Contract Renewal</a:t>
            </a:r>
            <a:endParaRPr lang="en-US" sz="9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&amp; Risk Agent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74" name="Text 65">
            <a:extLst>
              <a:ext uri="{FF2B5EF4-FFF2-40B4-BE49-F238E27FC236}">
                <a16:creationId xmlns:a16="http://schemas.microsoft.com/office/drawing/2014/main" id="{A91FF1F1-5BD4-2903-2F20-B58AC9B4D2C6}"/>
              </a:ext>
            </a:extLst>
          </p:cNvPr>
          <p:cNvSpPr txBox="1"/>
          <p:nvPr/>
        </p:nvSpPr>
        <p:spPr>
          <a:xfrm>
            <a:off x="4200010" y="3366165"/>
            <a:ext cx="838544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Identifies renewals,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risk signals and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obligations</a:t>
            </a:r>
            <a:endParaRPr lang="en-US" sz="740" dirty="0">
              <a:latin typeface="Ubuntu" panose="020B0504030602030204" pitchFamily="34" charset="0"/>
            </a:endParaRPr>
          </a:p>
        </p:txBody>
      </p:sp>
      <p:sp>
        <p:nvSpPr>
          <p:cNvPr id="75" name="Shape 66">
            <a:extLst>
              <a:ext uri="{FF2B5EF4-FFF2-40B4-BE49-F238E27FC236}">
                <a16:creationId xmlns:a16="http://schemas.microsoft.com/office/drawing/2014/main" id="{2093F6CB-1B1D-F415-DE7F-92BCF6E0C5BA}"/>
              </a:ext>
            </a:extLst>
          </p:cNvPr>
          <p:cNvSpPr/>
          <p:nvPr/>
        </p:nvSpPr>
        <p:spPr>
          <a:xfrm>
            <a:off x="5184387" y="2768549"/>
            <a:ext cx="984377" cy="1049471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76" name="Image 9" descr="preencoded.png">
            <a:extLst>
              <a:ext uri="{FF2B5EF4-FFF2-40B4-BE49-F238E27FC236}">
                <a16:creationId xmlns:a16="http://schemas.microsoft.com/office/drawing/2014/main" id="{3CC3A767-0CFF-0331-F03F-56BA215CEF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9909" y="2870581"/>
            <a:ext cx="233334" cy="218640"/>
          </a:xfrm>
          <a:prstGeom prst="rect">
            <a:avLst/>
          </a:prstGeom>
        </p:spPr>
      </p:pic>
      <p:sp>
        <p:nvSpPr>
          <p:cNvPr id="77" name="Text 67">
            <a:extLst>
              <a:ext uri="{FF2B5EF4-FFF2-40B4-BE49-F238E27FC236}">
                <a16:creationId xmlns:a16="http://schemas.microsoft.com/office/drawing/2014/main" id="{E253C6E3-9DA1-38C1-783E-00B95B4D16B0}"/>
              </a:ext>
            </a:extLst>
          </p:cNvPr>
          <p:cNvSpPr txBox="1"/>
          <p:nvPr/>
        </p:nvSpPr>
        <p:spPr>
          <a:xfrm>
            <a:off x="5242721" y="3118373"/>
            <a:ext cx="867710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Spend &amp;</a:t>
            </a:r>
            <a:endParaRPr lang="en-US" sz="9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Forecast Agent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78" name="Text 68">
            <a:extLst>
              <a:ext uri="{FF2B5EF4-FFF2-40B4-BE49-F238E27FC236}">
                <a16:creationId xmlns:a16="http://schemas.microsoft.com/office/drawing/2014/main" id="{F7110B49-6F0C-F891-E3EB-6EA925C96CC9}"/>
              </a:ext>
            </a:extLst>
          </p:cNvPr>
          <p:cNvSpPr txBox="1"/>
          <p:nvPr/>
        </p:nvSpPr>
        <p:spPr>
          <a:xfrm>
            <a:off x="5257304" y="3366165"/>
            <a:ext cx="838544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Spend analytics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and forecasting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740" dirty="0">
              <a:latin typeface="Ubuntu" panose="020B0504030602030204" pitchFamily="34" charset="0"/>
            </a:endParaRPr>
          </a:p>
        </p:txBody>
      </p:sp>
      <p:sp>
        <p:nvSpPr>
          <p:cNvPr id="79" name="Shape 69">
            <a:extLst>
              <a:ext uri="{FF2B5EF4-FFF2-40B4-BE49-F238E27FC236}">
                <a16:creationId xmlns:a16="http://schemas.microsoft.com/office/drawing/2014/main" id="{5FF8DA29-9292-FAA0-6532-3F587FC706E6}"/>
              </a:ext>
            </a:extLst>
          </p:cNvPr>
          <p:cNvSpPr/>
          <p:nvPr/>
        </p:nvSpPr>
        <p:spPr>
          <a:xfrm>
            <a:off x="3069799" y="3949204"/>
            <a:ext cx="984377" cy="1013031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80" name="Image 10" descr="preencoded.png">
            <a:extLst>
              <a:ext uri="{FF2B5EF4-FFF2-40B4-BE49-F238E27FC236}">
                <a16:creationId xmlns:a16="http://schemas.microsoft.com/office/drawing/2014/main" id="{3D858F5F-6EF4-A61C-6682-4A76806B7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45321" y="4051236"/>
            <a:ext cx="233334" cy="218640"/>
          </a:xfrm>
          <a:prstGeom prst="rect">
            <a:avLst/>
          </a:prstGeom>
        </p:spPr>
      </p:pic>
      <p:sp>
        <p:nvSpPr>
          <p:cNvPr id="81" name="Text 70">
            <a:extLst>
              <a:ext uri="{FF2B5EF4-FFF2-40B4-BE49-F238E27FC236}">
                <a16:creationId xmlns:a16="http://schemas.microsoft.com/office/drawing/2014/main" id="{22D54A4A-06A8-9728-D76C-32851AE8791F}"/>
              </a:ext>
            </a:extLst>
          </p:cNvPr>
          <p:cNvSpPr txBox="1"/>
          <p:nvPr/>
        </p:nvSpPr>
        <p:spPr>
          <a:xfrm>
            <a:off x="3128132" y="4299027"/>
            <a:ext cx="867710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Workforce</a:t>
            </a:r>
            <a:endParaRPr lang="en-US" sz="9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Dependency Agent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82" name="Text 71">
            <a:extLst>
              <a:ext uri="{FF2B5EF4-FFF2-40B4-BE49-F238E27FC236}">
                <a16:creationId xmlns:a16="http://schemas.microsoft.com/office/drawing/2014/main" id="{D0C58302-2B34-3713-DD38-9A3FD6A84798}"/>
              </a:ext>
            </a:extLst>
          </p:cNvPr>
          <p:cNvSpPr txBox="1"/>
          <p:nvPr/>
        </p:nvSpPr>
        <p:spPr>
          <a:xfrm>
            <a:off x="3142716" y="4546819"/>
            <a:ext cx="838544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Maps workforce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dependencies and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criticality</a:t>
            </a:r>
            <a:endParaRPr lang="en-US" sz="740" dirty="0">
              <a:latin typeface="Ubuntu" panose="020B0504030602030204" pitchFamily="34" charset="0"/>
            </a:endParaRPr>
          </a:p>
        </p:txBody>
      </p:sp>
      <p:sp>
        <p:nvSpPr>
          <p:cNvPr id="83" name="Shape 72">
            <a:extLst>
              <a:ext uri="{FF2B5EF4-FFF2-40B4-BE49-F238E27FC236}">
                <a16:creationId xmlns:a16="http://schemas.microsoft.com/office/drawing/2014/main" id="{DD6388D7-8270-5473-60D4-70310753E617}"/>
              </a:ext>
            </a:extLst>
          </p:cNvPr>
          <p:cNvSpPr/>
          <p:nvPr/>
        </p:nvSpPr>
        <p:spPr>
          <a:xfrm>
            <a:off x="4127093" y="3949204"/>
            <a:ext cx="984377" cy="1013031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84" name="Image 11" descr="preencoded.png">
            <a:extLst>
              <a:ext uri="{FF2B5EF4-FFF2-40B4-BE49-F238E27FC236}">
                <a16:creationId xmlns:a16="http://schemas.microsoft.com/office/drawing/2014/main" id="{21277C53-A1BC-DAC2-C838-F9CC65EDE3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02615" y="4051236"/>
            <a:ext cx="233334" cy="218640"/>
          </a:xfrm>
          <a:prstGeom prst="rect">
            <a:avLst/>
          </a:prstGeom>
        </p:spPr>
      </p:pic>
      <p:sp>
        <p:nvSpPr>
          <p:cNvPr id="85" name="Text 73">
            <a:extLst>
              <a:ext uri="{FF2B5EF4-FFF2-40B4-BE49-F238E27FC236}">
                <a16:creationId xmlns:a16="http://schemas.microsoft.com/office/drawing/2014/main" id="{968E6029-D3DE-5369-597D-D94258CA5ABD}"/>
              </a:ext>
            </a:extLst>
          </p:cNvPr>
          <p:cNvSpPr txBox="1"/>
          <p:nvPr/>
        </p:nvSpPr>
        <p:spPr>
          <a:xfrm>
            <a:off x="4185426" y="4299027"/>
            <a:ext cx="867710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Vendor</a:t>
            </a:r>
            <a:endParaRPr lang="en-US" sz="9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Rationalization Agent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86" name="Text 74">
            <a:extLst>
              <a:ext uri="{FF2B5EF4-FFF2-40B4-BE49-F238E27FC236}">
                <a16:creationId xmlns:a16="http://schemas.microsoft.com/office/drawing/2014/main" id="{6A10E499-1940-96A5-A7C0-574A901B6E18}"/>
              </a:ext>
            </a:extLst>
          </p:cNvPr>
          <p:cNvSpPr txBox="1"/>
          <p:nvPr/>
        </p:nvSpPr>
        <p:spPr>
          <a:xfrm>
            <a:off x="4200010" y="4546819"/>
            <a:ext cx="838544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Identifies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consolidation and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optimization options</a:t>
            </a:r>
            <a:endParaRPr lang="en-US" sz="740" dirty="0">
              <a:latin typeface="Ubuntu" panose="020B0504030602030204" pitchFamily="34" charset="0"/>
            </a:endParaRPr>
          </a:p>
        </p:txBody>
      </p:sp>
      <p:sp>
        <p:nvSpPr>
          <p:cNvPr id="87" name="Shape 75">
            <a:extLst>
              <a:ext uri="{FF2B5EF4-FFF2-40B4-BE49-F238E27FC236}">
                <a16:creationId xmlns:a16="http://schemas.microsoft.com/office/drawing/2014/main" id="{448D3207-5F00-C07B-2720-97CB2023BBC3}"/>
              </a:ext>
            </a:extLst>
          </p:cNvPr>
          <p:cNvSpPr/>
          <p:nvPr/>
        </p:nvSpPr>
        <p:spPr>
          <a:xfrm>
            <a:off x="5184387" y="3949204"/>
            <a:ext cx="984377" cy="1013031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88" name="Image 12" descr="preencoded.png">
            <a:extLst>
              <a:ext uri="{FF2B5EF4-FFF2-40B4-BE49-F238E27FC236}">
                <a16:creationId xmlns:a16="http://schemas.microsoft.com/office/drawing/2014/main" id="{1ECFEBB0-D052-6CFE-86CD-464F8A957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59909" y="4051236"/>
            <a:ext cx="233334" cy="218640"/>
          </a:xfrm>
          <a:prstGeom prst="rect">
            <a:avLst/>
          </a:prstGeom>
        </p:spPr>
      </p:pic>
      <p:sp>
        <p:nvSpPr>
          <p:cNvPr id="89" name="Text 76">
            <a:extLst>
              <a:ext uri="{FF2B5EF4-FFF2-40B4-BE49-F238E27FC236}">
                <a16:creationId xmlns:a16="http://schemas.microsoft.com/office/drawing/2014/main" id="{E694A9A5-292D-5A5B-9ABF-9A5683168244}"/>
              </a:ext>
            </a:extLst>
          </p:cNvPr>
          <p:cNvSpPr txBox="1"/>
          <p:nvPr/>
        </p:nvSpPr>
        <p:spPr>
          <a:xfrm>
            <a:off x="5242721" y="4299027"/>
            <a:ext cx="867710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9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Analysis Agent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90" name="Text 77">
            <a:extLst>
              <a:ext uri="{FF2B5EF4-FFF2-40B4-BE49-F238E27FC236}">
                <a16:creationId xmlns:a16="http://schemas.microsoft.com/office/drawing/2014/main" id="{BC0FAF54-4457-B2FC-8511-7D6403B5FD29}"/>
              </a:ext>
            </a:extLst>
          </p:cNvPr>
          <p:cNvSpPr txBox="1"/>
          <p:nvPr/>
        </p:nvSpPr>
        <p:spPr>
          <a:xfrm>
            <a:off x="5257304" y="4546819"/>
            <a:ext cx="838544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Models what-if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scenarios and</a:t>
            </a:r>
            <a:endParaRPr lang="en-US" sz="74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74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business impact</a:t>
            </a:r>
            <a:endParaRPr lang="en-US" sz="740" dirty="0">
              <a:latin typeface="Ubuntu" panose="020B0504030602030204" pitchFamily="34" charset="0"/>
            </a:endParaRPr>
          </a:p>
        </p:txBody>
      </p:sp>
      <p:sp>
        <p:nvSpPr>
          <p:cNvPr id="91" name="Shape 78">
            <a:extLst>
              <a:ext uri="{FF2B5EF4-FFF2-40B4-BE49-F238E27FC236}">
                <a16:creationId xmlns:a16="http://schemas.microsoft.com/office/drawing/2014/main" id="{15B50502-4BCE-C4E1-2859-512BEFEF0377}"/>
              </a:ext>
            </a:extLst>
          </p:cNvPr>
          <p:cNvSpPr/>
          <p:nvPr/>
        </p:nvSpPr>
        <p:spPr>
          <a:xfrm>
            <a:off x="3558342" y="3810732"/>
            <a:ext cx="0" cy="131184"/>
          </a:xfrm>
          <a:prstGeom prst="line">
            <a:avLst/>
          </a:prstGeom>
          <a:noFill/>
          <a:ln w="15240">
            <a:solidFill>
              <a:srgbClr val="6C11C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92" name="Shape 79">
            <a:extLst>
              <a:ext uri="{FF2B5EF4-FFF2-40B4-BE49-F238E27FC236}">
                <a16:creationId xmlns:a16="http://schemas.microsoft.com/office/drawing/2014/main" id="{A576E696-21FC-7773-1A65-75CD3ABA9CDA}"/>
              </a:ext>
            </a:extLst>
          </p:cNvPr>
          <p:cNvSpPr/>
          <p:nvPr/>
        </p:nvSpPr>
        <p:spPr>
          <a:xfrm>
            <a:off x="4615636" y="3810732"/>
            <a:ext cx="0" cy="131184"/>
          </a:xfrm>
          <a:prstGeom prst="line">
            <a:avLst/>
          </a:prstGeom>
          <a:noFill/>
          <a:ln w="15240">
            <a:solidFill>
              <a:srgbClr val="6C11C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93" name="Shape 80">
            <a:extLst>
              <a:ext uri="{FF2B5EF4-FFF2-40B4-BE49-F238E27FC236}">
                <a16:creationId xmlns:a16="http://schemas.microsoft.com/office/drawing/2014/main" id="{0F11879B-D727-47C3-E2B4-013B6A96F1D4}"/>
              </a:ext>
            </a:extLst>
          </p:cNvPr>
          <p:cNvSpPr/>
          <p:nvPr/>
        </p:nvSpPr>
        <p:spPr>
          <a:xfrm>
            <a:off x="5672930" y="3810732"/>
            <a:ext cx="0" cy="131184"/>
          </a:xfrm>
          <a:prstGeom prst="line">
            <a:avLst/>
          </a:prstGeom>
          <a:noFill/>
          <a:ln w="15240">
            <a:solidFill>
              <a:srgbClr val="6C11C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94" name="Shape 81">
            <a:extLst>
              <a:ext uri="{FF2B5EF4-FFF2-40B4-BE49-F238E27FC236}">
                <a16:creationId xmlns:a16="http://schemas.microsoft.com/office/drawing/2014/main" id="{4484CC04-3C50-C45E-5FCC-CB6231E337F4}"/>
              </a:ext>
            </a:extLst>
          </p:cNvPr>
          <p:cNvSpPr/>
          <p:nvPr/>
        </p:nvSpPr>
        <p:spPr>
          <a:xfrm>
            <a:off x="3069799" y="5042403"/>
            <a:ext cx="3077091" cy="320672"/>
          </a:xfrm>
          <a:prstGeom prst="roundRect">
            <a:avLst>
              <a:gd name="adj" fmla="val 14258"/>
            </a:avLst>
          </a:prstGeom>
          <a:solidFill>
            <a:srgbClr val="FFFFFF"/>
          </a:solidFill>
          <a:ln w="12700">
            <a:solidFill>
              <a:srgbClr val="B578E8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95" name="Image 13" descr="preencoded.png">
            <a:extLst>
              <a:ext uri="{FF2B5EF4-FFF2-40B4-BE49-F238E27FC236}">
                <a16:creationId xmlns:a16="http://schemas.microsoft.com/office/drawing/2014/main" id="{7D5FC4E3-17CC-A21A-A9AA-8943BBD49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19800" y="5115283"/>
            <a:ext cx="182292" cy="182200"/>
          </a:xfrm>
          <a:prstGeom prst="rect">
            <a:avLst/>
          </a:prstGeom>
        </p:spPr>
      </p:pic>
      <p:sp>
        <p:nvSpPr>
          <p:cNvPr id="96" name="Text 82">
            <a:extLst>
              <a:ext uri="{FF2B5EF4-FFF2-40B4-BE49-F238E27FC236}">
                <a16:creationId xmlns:a16="http://schemas.microsoft.com/office/drawing/2014/main" id="{57126AB7-DBF1-84A7-9498-2A89873B0F1C}"/>
              </a:ext>
            </a:extLst>
          </p:cNvPr>
          <p:cNvSpPr txBox="1"/>
          <p:nvPr/>
        </p:nvSpPr>
        <p:spPr>
          <a:xfrm>
            <a:off x="3740634" y="5056979"/>
            <a:ext cx="2114588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6C11C9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Policy, Guardrails, Explainability, Audit</a:t>
            </a:r>
            <a:endParaRPr lang="en-US" sz="940" dirty="0">
              <a:latin typeface="Ubuntu" panose="020B0504030602030204" pitchFamily="34" charset="0"/>
            </a:endParaRPr>
          </a:p>
        </p:txBody>
      </p:sp>
      <p:sp>
        <p:nvSpPr>
          <p:cNvPr id="97" name="Text 83">
            <a:extLst>
              <a:ext uri="{FF2B5EF4-FFF2-40B4-BE49-F238E27FC236}">
                <a16:creationId xmlns:a16="http://schemas.microsoft.com/office/drawing/2014/main" id="{9404EBD4-9907-7E0F-6963-4EBE724B3352}"/>
              </a:ext>
            </a:extLst>
          </p:cNvPr>
          <p:cNvSpPr txBox="1"/>
          <p:nvPr/>
        </p:nvSpPr>
        <p:spPr>
          <a:xfrm>
            <a:off x="3740634" y="5202738"/>
            <a:ext cx="2114588" cy="10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dirty="0">
                <a:solidFill>
                  <a:srgbClr val="6950A9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Safe, compliant and transparent AI</a:t>
            </a:r>
            <a:endParaRPr lang="en-US" sz="710" dirty="0">
              <a:latin typeface="Ubuntu" panose="020B0504030602030204" pitchFamily="34" charset="0"/>
            </a:endParaRPr>
          </a:p>
        </p:txBody>
      </p:sp>
      <p:sp>
        <p:nvSpPr>
          <p:cNvPr id="98" name="Shape 84">
            <a:extLst>
              <a:ext uri="{FF2B5EF4-FFF2-40B4-BE49-F238E27FC236}">
                <a16:creationId xmlns:a16="http://schemas.microsoft.com/office/drawing/2014/main" id="{8A93D91D-4A0F-4294-B0AD-88752D91522B}"/>
              </a:ext>
            </a:extLst>
          </p:cNvPr>
          <p:cNvSpPr/>
          <p:nvPr/>
        </p:nvSpPr>
        <p:spPr>
          <a:xfrm>
            <a:off x="6445848" y="2076190"/>
            <a:ext cx="0" cy="2390461"/>
          </a:xfrm>
          <a:prstGeom prst="line">
            <a:avLst/>
          </a:prstGeom>
          <a:noFill/>
          <a:ln w="17780">
            <a:solidFill>
              <a:srgbClr val="0B8C87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99" name="Shape 85">
            <a:extLst>
              <a:ext uri="{FF2B5EF4-FFF2-40B4-BE49-F238E27FC236}">
                <a16:creationId xmlns:a16="http://schemas.microsoft.com/office/drawing/2014/main" id="{7D0DF54D-9A4D-75D6-AA4C-FB8D07C558F0}"/>
              </a:ext>
            </a:extLst>
          </p:cNvPr>
          <p:cNvSpPr/>
          <p:nvPr/>
        </p:nvSpPr>
        <p:spPr>
          <a:xfrm>
            <a:off x="6445848" y="2127206"/>
            <a:ext cx="182292" cy="0"/>
          </a:xfrm>
          <a:prstGeom prst="line">
            <a:avLst/>
          </a:prstGeom>
          <a:noFill/>
          <a:ln w="16510">
            <a:solidFill>
              <a:srgbClr val="0B8C87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00" name="Shape 86">
            <a:extLst>
              <a:ext uri="{FF2B5EF4-FFF2-40B4-BE49-F238E27FC236}">
                <a16:creationId xmlns:a16="http://schemas.microsoft.com/office/drawing/2014/main" id="{0D8BE66D-CC4C-716A-4226-5BB072CB36B0}"/>
              </a:ext>
            </a:extLst>
          </p:cNvPr>
          <p:cNvSpPr/>
          <p:nvPr/>
        </p:nvSpPr>
        <p:spPr>
          <a:xfrm>
            <a:off x="6445848" y="2907021"/>
            <a:ext cx="182292" cy="0"/>
          </a:xfrm>
          <a:prstGeom prst="line">
            <a:avLst/>
          </a:prstGeom>
          <a:noFill/>
          <a:ln w="16510">
            <a:solidFill>
              <a:srgbClr val="0B8C87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01" name="Shape 87">
            <a:extLst>
              <a:ext uri="{FF2B5EF4-FFF2-40B4-BE49-F238E27FC236}">
                <a16:creationId xmlns:a16="http://schemas.microsoft.com/office/drawing/2014/main" id="{773994B1-A58F-3E37-B747-ED60A9795129}"/>
              </a:ext>
            </a:extLst>
          </p:cNvPr>
          <p:cNvSpPr/>
          <p:nvPr/>
        </p:nvSpPr>
        <p:spPr>
          <a:xfrm>
            <a:off x="6445848" y="3686836"/>
            <a:ext cx="182292" cy="0"/>
          </a:xfrm>
          <a:prstGeom prst="line">
            <a:avLst/>
          </a:prstGeom>
          <a:noFill/>
          <a:ln w="16510">
            <a:solidFill>
              <a:srgbClr val="0B8C87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02" name="Shape 88">
            <a:extLst>
              <a:ext uri="{FF2B5EF4-FFF2-40B4-BE49-F238E27FC236}">
                <a16:creationId xmlns:a16="http://schemas.microsoft.com/office/drawing/2014/main" id="{3EC3948F-9C80-96EF-9DBF-1783197E525D}"/>
              </a:ext>
            </a:extLst>
          </p:cNvPr>
          <p:cNvSpPr/>
          <p:nvPr/>
        </p:nvSpPr>
        <p:spPr>
          <a:xfrm>
            <a:off x="6445848" y="4466651"/>
            <a:ext cx="182292" cy="0"/>
          </a:xfrm>
          <a:prstGeom prst="line">
            <a:avLst/>
          </a:prstGeom>
          <a:noFill/>
          <a:ln w="16510">
            <a:solidFill>
              <a:srgbClr val="0B8C87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03" name="Shape 89">
            <a:extLst>
              <a:ext uri="{FF2B5EF4-FFF2-40B4-BE49-F238E27FC236}">
                <a16:creationId xmlns:a16="http://schemas.microsoft.com/office/drawing/2014/main" id="{C6CE78A7-F707-4F2B-DB28-1B5069E2F15B}"/>
              </a:ext>
            </a:extLst>
          </p:cNvPr>
          <p:cNvSpPr/>
          <p:nvPr/>
        </p:nvSpPr>
        <p:spPr>
          <a:xfrm>
            <a:off x="6628141" y="1821110"/>
            <a:ext cx="2296880" cy="641343"/>
          </a:xfrm>
          <a:prstGeom prst="roundRect">
            <a:avLst>
              <a:gd name="adj" fmla="val 11406"/>
            </a:avLst>
          </a:prstGeom>
          <a:solidFill>
            <a:srgbClr val="FFFFFF"/>
          </a:solidFill>
          <a:ln w="12700">
            <a:solidFill>
              <a:srgbClr val="55B8B3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04" name="Image 14" descr="preencoded.png">
            <a:extLst>
              <a:ext uri="{FF2B5EF4-FFF2-40B4-BE49-F238E27FC236}">
                <a16:creationId xmlns:a16="http://schemas.microsoft.com/office/drawing/2014/main" id="{A341FCFA-02B6-4414-D67D-5553A28A5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52099" y="1937718"/>
            <a:ext cx="277084" cy="276944"/>
          </a:xfrm>
          <a:prstGeom prst="rect">
            <a:avLst/>
          </a:prstGeom>
        </p:spPr>
      </p:pic>
      <p:sp>
        <p:nvSpPr>
          <p:cNvPr id="105" name="Text 90">
            <a:extLst>
              <a:ext uri="{FF2B5EF4-FFF2-40B4-BE49-F238E27FC236}">
                <a16:creationId xmlns:a16="http://schemas.microsoft.com/office/drawing/2014/main" id="{97884C2E-CB8B-C614-7DE3-0CDF13A31A23}"/>
              </a:ext>
            </a:extLst>
          </p:cNvPr>
          <p:cNvSpPr txBox="1"/>
          <p:nvPr/>
        </p:nvSpPr>
        <p:spPr>
          <a:xfrm>
            <a:off x="7182308" y="1923142"/>
            <a:ext cx="1626045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106" name="Text 91">
            <a:extLst>
              <a:ext uri="{FF2B5EF4-FFF2-40B4-BE49-F238E27FC236}">
                <a16:creationId xmlns:a16="http://schemas.microsoft.com/office/drawing/2014/main" id="{00DDF697-B879-6C39-DE4A-2CF381E088D0}"/>
              </a:ext>
            </a:extLst>
          </p:cNvPr>
          <p:cNvSpPr txBox="1"/>
          <p:nvPr/>
        </p:nvSpPr>
        <p:spPr>
          <a:xfrm>
            <a:off x="7182308" y="2083478"/>
            <a:ext cx="1626045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Authoritative facts, history,</a:t>
            </a:r>
            <a:endParaRPr lang="en-US" sz="82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spend, contracts, roster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107" name="Shape 92">
            <a:extLst>
              <a:ext uri="{FF2B5EF4-FFF2-40B4-BE49-F238E27FC236}">
                <a16:creationId xmlns:a16="http://schemas.microsoft.com/office/drawing/2014/main" id="{51441779-E3E1-9F59-4A5A-D99172D063CB}"/>
              </a:ext>
            </a:extLst>
          </p:cNvPr>
          <p:cNvSpPr/>
          <p:nvPr/>
        </p:nvSpPr>
        <p:spPr>
          <a:xfrm>
            <a:off x="6628141" y="2593637"/>
            <a:ext cx="2296880" cy="692359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 w="12700">
            <a:solidFill>
              <a:srgbClr val="55B8B3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08" name="Image 15" descr="preencoded.png">
            <a:extLst>
              <a:ext uri="{FF2B5EF4-FFF2-40B4-BE49-F238E27FC236}">
                <a16:creationId xmlns:a16="http://schemas.microsoft.com/office/drawing/2014/main" id="{BEE59E4E-2A35-3D3D-EE28-7EBE1CF72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52099" y="2710245"/>
            <a:ext cx="277084" cy="276944"/>
          </a:xfrm>
          <a:prstGeom prst="rect">
            <a:avLst/>
          </a:prstGeom>
        </p:spPr>
      </p:pic>
      <p:sp>
        <p:nvSpPr>
          <p:cNvPr id="109" name="Text 93">
            <a:extLst>
              <a:ext uri="{FF2B5EF4-FFF2-40B4-BE49-F238E27FC236}">
                <a16:creationId xmlns:a16="http://schemas.microsoft.com/office/drawing/2014/main" id="{3812F478-E2CC-3E95-53AB-FDE364080E9D}"/>
              </a:ext>
            </a:extLst>
          </p:cNvPr>
          <p:cNvSpPr txBox="1"/>
          <p:nvPr/>
        </p:nvSpPr>
        <p:spPr>
          <a:xfrm>
            <a:off x="7182308" y="2695669"/>
            <a:ext cx="1626045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Neo4j Knowledge Graph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110" name="Text 94">
            <a:extLst>
              <a:ext uri="{FF2B5EF4-FFF2-40B4-BE49-F238E27FC236}">
                <a16:creationId xmlns:a16="http://schemas.microsoft.com/office/drawing/2014/main" id="{5A534051-F3B6-F161-0742-50414F6F7D7A}"/>
              </a:ext>
            </a:extLst>
          </p:cNvPr>
          <p:cNvSpPr txBox="1"/>
          <p:nvPr/>
        </p:nvSpPr>
        <p:spPr>
          <a:xfrm>
            <a:off x="7182308" y="2856005"/>
            <a:ext cx="1626045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Vendors, contracts, workforce,</a:t>
            </a:r>
            <a:endParaRPr lang="en-US" sz="82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products, AI / OU relationships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111" name="Shape 95">
            <a:extLst>
              <a:ext uri="{FF2B5EF4-FFF2-40B4-BE49-F238E27FC236}">
                <a16:creationId xmlns:a16="http://schemas.microsoft.com/office/drawing/2014/main" id="{5EE6EA44-9CD3-CC28-A56F-8211676DB1F7}"/>
              </a:ext>
            </a:extLst>
          </p:cNvPr>
          <p:cNvSpPr/>
          <p:nvPr/>
        </p:nvSpPr>
        <p:spPr>
          <a:xfrm>
            <a:off x="6628141" y="3380741"/>
            <a:ext cx="2296880" cy="692359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 w="12700">
            <a:solidFill>
              <a:srgbClr val="55B8B3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12" name="Image 16" descr="preencoded.png">
            <a:extLst>
              <a:ext uri="{FF2B5EF4-FFF2-40B4-BE49-F238E27FC236}">
                <a16:creationId xmlns:a16="http://schemas.microsoft.com/office/drawing/2014/main" id="{184DA058-5232-0D3D-8C34-086C2A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52099" y="3497348"/>
            <a:ext cx="277084" cy="276944"/>
          </a:xfrm>
          <a:prstGeom prst="rect">
            <a:avLst/>
          </a:prstGeom>
        </p:spPr>
      </p:pic>
      <p:sp>
        <p:nvSpPr>
          <p:cNvPr id="113" name="Text 96">
            <a:extLst>
              <a:ext uri="{FF2B5EF4-FFF2-40B4-BE49-F238E27FC236}">
                <a16:creationId xmlns:a16="http://schemas.microsoft.com/office/drawing/2014/main" id="{A1725AFC-9540-ADFA-F286-F154CAF8B5A3}"/>
              </a:ext>
            </a:extLst>
          </p:cNvPr>
          <p:cNvSpPr txBox="1"/>
          <p:nvPr/>
        </p:nvSpPr>
        <p:spPr>
          <a:xfrm>
            <a:off x="7182308" y="3482772"/>
            <a:ext cx="1626045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Vector Store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114" name="Text 97">
            <a:extLst>
              <a:ext uri="{FF2B5EF4-FFF2-40B4-BE49-F238E27FC236}">
                <a16:creationId xmlns:a16="http://schemas.microsoft.com/office/drawing/2014/main" id="{0A00F1CE-28DE-2846-350B-20D7E1634FBB}"/>
              </a:ext>
            </a:extLst>
          </p:cNvPr>
          <p:cNvSpPr txBox="1"/>
          <p:nvPr/>
        </p:nvSpPr>
        <p:spPr>
          <a:xfrm>
            <a:off x="7182308" y="3643108"/>
            <a:ext cx="1626045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Contract language,</a:t>
            </a:r>
            <a:endParaRPr lang="en-US" sz="82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policies, supplier docs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115" name="Shape 98">
            <a:extLst>
              <a:ext uri="{FF2B5EF4-FFF2-40B4-BE49-F238E27FC236}">
                <a16:creationId xmlns:a16="http://schemas.microsoft.com/office/drawing/2014/main" id="{51888144-88B6-A90F-14D7-E15A53C0EDA8}"/>
              </a:ext>
            </a:extLst>
          </p:cNvPr>
          <p:cNvSpPr/>
          <p:nvPr/>
        </p:nvSpPr>
        <p:spPr>
          <a:xfrm>
            <a:off x="6628141" y="4160556"/>
            <a:ext cx="2296880" cy="670495"/>
          </a:xfrm>
          <a:prstGeom prst="roundRect">
            <a:avLst>
              <a:gd name="adj" fmla="val 10910"/>
            </a:avLst>
          </a:prstGeom>
          <a:solidFill>
            <a:srgbClr val="FFFFFF"/>
          </a:solidFill>
          <a:ln w="12700">
            <a:solidFill>
              <a:srgbClr val="55B8B3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16" name="Image 17" descr="preencoded.png">
            <a:extLst>
              <a:ext uri="{FF2B5EF4-FFF2-40B4-BE49-F238E27FC236}">
                <a16:creationId xmlns:a16="http://schemas.microsoft.com/office/drawing/2014/main" id="{6B5D199C-6D05-C4F5-C017-3C193EB5A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52099" y="4277163"/>
            <a:ext cx="277084" cy="276944"/>
          </a:xfrm>
          <a:prstGeom prst="rect">
            <a:avLst/>
          </a:prstGeom>
        </p:spPr>
      </p:pic>
      <p:sp>
        <p:nvSpPr>
          <p:cNvPr id="117" name="Text 99">
            <a:extLst>
              <a:ext uri="{FF2B5EF4-FFF2-40B4-BE49-F238E27FC236}">
                <a16:creationId xmlns:a16="http://schemas.microsoft.com/office/drawing/2014/main" id="{D71B51D1-C384-82C6-A699-A67E12E3E63B}"/>
              </a:ext>
            </a:extLst>
          </p:cNvPr>
          <p:cNvSpPr txBox="1"/>
          <p:nvPr/>
        </p:nvSpPr>
        <p:spPr>
          <a:xfrm>
            <a:off x="7182308" y="4262588"/>
            <a:ext cx="1626045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Metadata + Ontology</a:t>
            </a:r>
            <a:endParaRPr lang="en-US" sz="1050" dirty="0">
              <a:latin typeface="Ubuntu" panose="020B0504030602030204" pitchFamily="34" charset="0"/>
            </a:endParaRPr>
          </a:p>
        </p:txBody>
      </p:sp>
      <p:sp>
        <p:nvSpPr>
          <p:cNvPr id="118" name="Text 100">
            <a:extLst>
              <a:ext uri="{FF2B5EF4-FFF2-40B4-BE49-F238E27FC236}">
                <a16:creationId xmlns:a16="http://schemas.microsoft.com/office/drawing/2014/main" id="{40777887-95B8-298D-01B5-D7138DFC17E6}"/>
              </a:ext>
            </a:extLst>
          </p:cNvPr>
          <p:cNvSpPr txBox="1"/>
          <p:nvPr/>
        </p:nvSpPr>
        <p:spPr>
          <a:xfrm>
            <a:off x="7182308" y="4422923"/>
            <a:ext cx="1626045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Glossary, metadata, lineage,</a:t>
            </a:r>
            <a:endParaRPr lang="en-US" sz="82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2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business semantics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119" name="Shape 101">
            <a:extLst>
              <a:ext uri="{FF2B5EF4-FFF2-40B4-BE49-F238E27FC236}">
                <a16:creationId xmlns:a16="http://schemas.microsoft.com/office/drawing/2014/main" id="{E47109CC-0001-9B75-6E2D-FCEAEC34FA7F}"/>
              </a:ext>
            </a:extLst>
          </p:cNvPr>
          <p:cNvSpPr/>
          <p:nvPr/>
        </p:nvSpPr>
        <p:spPr>
          <a:xfrm>
            <a:off x="6445848" y="5020539"/>
            <a:ext cx="2479172" cy="349824"/>
          </a:xfrm>
          <a:prstGeom prst="roundRect">
            <a:avLst>
              <a:gd name="adj" fmla="val 13069"/>
            </a:avLst>
          </a:prstGeom>
          <a:solidFill>
            <a:srgbClr val="DDF4F2"/>
          </a:solidFill>
          <a:ln w="12700">
            <a:solidFill>
              <a:srgbClr val="DDF4F2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20" name="Text 102">
            <a:extLst>
              <a:ext uri="{FF2B5EF4-FFF2-40B4-BE49-F238E27FC236}">
                <a16:creationId xmlns:a16="http://schemas.microsoft.com/office/drawing/2014/main" id="{6B2E1DD3-8F68-67D9-4BA6-E53778844105}"/>
              </a:ext>
            </a:extLst>
          </p:cNvPr>
          <p:cNvSpPr txBox="1"/>
          <p:nvPr/>
        </p:nvSpPr>
        <p:spPr>
          <a:xfrm>
            <a:off x="6598974" y="5093419"/>
            <a:ext cx="217292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76B7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Trusted data and domain knowledge for better decisions</a:t>
            </a:r>
            <a:endParaRPr lang="en-US" sz="820" dirty="0">
              <a:latin typeface="Ubuntu" panose="020B0504030602030204" pitchFamily="34" charset="0"/>
            </a:endParaRPr>
          </a:p>
        </p:txBody>
      </p:sp>
      <p:sp>
        <p:nvSpPr>
          <p:cNvPr id="121" name="Shape 103">
            <a:extLst>
              <a:ext uri="{FF2B5EF4-FFF2-40B4-BE49-F238E27FC236}">
                <a16:creationId xmlns:a16="http://schemas.microsoft.com/office/drawing/2014/main" id="{473397D6-A961-25E9-50CA-190354FD8CAC}"/>
              </a:ext>
            </a:extLst>
          </p:cNvPr>
          <p:cNvSpPr/>
          <p:nvPr/>
        </p:nvSpPr>
        <p:spPr>
          <a:xfrm>
            <a:off x="9245855" y="1762806"/>
            <a:ext cx="2515631" cy="378976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22" name="Image 18" descr="preencoded.png">
            <a:extLst>
              <a:ext uri="{FF2B5EF4-FFF2-40B4-BE49-F238E27FC236}">
                <a16:creationId xmlns:a16="http://schemas.microsoft.com/office/drawing/2014/main" id="{459FDF4F-8F37-F3CD-D12E-99EA3F987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2522" y="1835686"/>
            <a:ext cx="247917" cy="247792"/>
          </a:xfrm>
          <a:prstGeom prst="rect">
            <a:avLst/>
          </a:prstGeom>
        </p:spPr>
      </p:pic>
      <p:sp>
        <p:nvSpPr>
          <p:cNvPr id="123" name="Text 104">
            <a:extLst>
              <a:ext uri="{FF2B5EF4-FFF2-40B4-BE49-F238E27FC236}">
                <a16:creationId xmlns:a16="http://schemas.microsoft.com/office/drawing/2014/main" id="{04BB6B22-AA43-E906-D1C5-8CE20C21ECA6}"/>
              </a:ext>
            </a:extLst>
          </p:cNvPr>
          <p:cNvSpPr txBox="1"/>
          <p:nvPr/>
        </p:nvSpPr>
        <p:spPr>
          <a:xfrm>
            <a:off x="9756273" y="1813822"/>
            <a:ext cx="1917713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Vendor 360 View</a:t>
            </a:r>
            <a:endParaRPr lang="en-US" sz="980" dirty="0">
              <a:latin typeface="Ubuntu" panose="020B0504030602030204" pitchFamily="34" charset="0"/>
            </a:endParaRPr>
          </a:p>
        </p:txBody>
      </p:sp>
      <p:sp>
        <p:nvSpPr>
          <p:cNvPr id="124" name="Text 105">
            <a:extLst>
              <a:ext uri="{FF2B5EF4-FFF2-40B4-BE49-F238E27FC236}">
                <a16:creationId xmlns:a16="http://schemas.microsoft.com/office/drawing/2014/main" id="{75FFAE8D-909C-FCE6-D522-AF9100851CA5}"/>
              </a:ext>
            </a:extLst>
          </p:cNvPr>
          <p:cNvSpPr txBox="1"/>
          <p:nvPr/>
        </p:nvSpPr>
        <p:spPr>
          <a:xfrm>
            <a:off x="9756273" y="1945006"/>
            <a:ext cx="1917713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Complete, real-time view of each vendor</a:t>
            </a:r>
            <a:endParaRPr lang="en-US" sz="750" dirty="0">
              <a:latin typeface="Ubuntu" panose="020B0504030602030204" pitchFamily="34" charset="0"/>
            </a:endParaRPr>
          </a:p>
        </p:txBody>
      </p:sp>
      <p:sp>
        <p:nvSpPr>
          <p:cNvPr id="125" name="Shape 106">
            <a:extLst>
              <a:ext uri="{FF2B5EF4-FFF2-40B4-BE49-F238E27FC236}">
                <a16:creationId xmlns:a16="http://schemas.microsoft.com/office/drawing/2014/main" id="{D862FC82-CFCC-38B1-E81C-DCEDDA8D1DE6}"/>
              </a:ext>
            </a:extLst>
          </p:cNvPr>
          <p:cNvSpPr/>
          <p:nvPr/>
        </p:nvSpPr>
        <p:spPr>
          <a:xfrm>
            <a:off x="9245855" y="2185510"/>
            <a:ext cx="2515631" cy="378976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26" name="Image 19" descr="preencoded.png">
            <a:extLst>
              <a:ext uri="{FF2B5EF4-FFF2-40B4-BE49-F238E27FC236}">
                <a16:creationId xmlns:a16="http://schemas.microsoft.com/office/drawing/2014/main" id="{0C82006A-8B01-4EF4-76D5-8A6252786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362522" y="2258390"/>
            <a:ext cx="247917" cy="247792"/>
          </a:xfrm>
          <a:prstGeom prst="rect">
            <a:avLst/>
          </a:prstGeom>
        </p:spPr>
      </p:pic>
      <p:sp>
        <p:nvSpPr>
          <p:cNvPr id="127" name="Text 107">
            <a:extLst>
              <a:ext uri="{FF2B5EF4-FFF2-40B4-BE49-F238E27FC236}">
                <a16:creationId xmlns:a16="http://schemas.microsoft.com/office/drawing/2014/main" id="{3F77B578-5C91-7087-876D-1E3C43793050}"/>
              </a:ext>
            </a:extLst>
          </p:cNvPr>
          <p:cNvSpPr txBox="1"/>
          <p:nvPr/>
        </p:nvSpPr>
        <p:spPr>
          <a:xfrm>
            <a:off x="9756273" y="2236526"/>
            <a:ext cx="1917713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Renewal Prioritization</a:t>
            </a:r>
            <a:endParaRPr lang="en-US" sz="980" dirty="0">
              <a:latin typeface="Ubuntu" panose="020B0504030602030204" pitchFamily="34" charset="0"/>
            </a:endParaRPr>
          </a:p>
        </p:txBody>
      </p:sp>
      <p:sp>
        <p:nvSpPr>
          <p:cNvPr id="128" name="Text 108">
            <a:extLst>
              <a:ext uri="{FF2B5EF4-FFF2-40B4-BE49-F238E27FC236}">
                <a16:creationId xmlns:a16="http://schemas.microsoft.com/office/drawing/2014/main" id="{FB299817-FE35-2160-EC34-061A26F8A597}"/>
              </a:ext>
            </a:extLst>
          </p:cNvPr>
          <p:cNvSpPr txBox="1"/>
          <p:nvPr/>
        </p:nvSpPr>
        <p:spPr>
          <a:xfrm>
            <a:off x="9756273" y="2367710"/>
            <a:ext cx="1917713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Focus on what matters next</a:t>
            </a:r>
            <a:endParaRPr lang="en-US" sz="750" dirty="0">
              <a:latin typeface="Ubuntu" panose="020B0504030602030204" pitchFamily="34" charset="0"/>
            </a:endParaRPr>
          </a:p>
        </p:txBody>
      </p:sp>
      <p:sp>
        <p:nvSpPr>
          <p:cNvPr id="129" name="Shape 109">
            <a:extLst>
              <a:ext uri="{FF2B5EF4-FFF2-40B4-BE49-F238E27FC236}">
                <a16:creationId xmlns:a16="http://schemas.microsoft.com/office/drawing/2014/main" id="{8F40D205-4718-D87A-ADFF-9444BBC4ADE4}"/>
              </a:ext>
            </a:extLst>
          </p:cNvPr>
          <p:cNvSpPr/>
          <p:nvPr/>
        </p:nvSpPr>
        <p:spPr>
          <a:xfrm>
            <a:off x="9245855" y="2608213"/>
            <a:ext cx="2515631" cy="378976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30" name="Image 20" descr="preencoded.png">
            <a:extLst>
              <a:ext uri="{FF2B5EF4-FFF2-40B4-BE49-F238E27FC236}">
                <a16:creationId xmlns:a16="http://schemas.microsoft.com/office/drawing/2014/main" id="{7579C2E9-6867-CBDE-ABCE-72BF4AE5F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362522" y="2681093"/>
            <a:ext cx="247917" cy="247792"/>
          </a:xfrm>
          <a:prstGeom prst="rect">
            <a:avLst/>
          </a:prstGeom>
        </p:spPr>
      </p:pic>
      <p:sp>
        <p:nvSpPr>
          <p:cNvPr id="131" name="Text 110">
            <a:extLst>
              <a:ext uri="{FF2B5EF4-FFF2-40B4-BE49-F238E27FC236}">
                <a16:creationId xmlns:a16="http://schemas.microsoft.com/office/drawing/2014/main" id="{0A6A73B4-0580-CDDD-9F62-86A4BD5EAB5D}"/>
              </a:ext>
            </a:extLst>
          </p:cNvPr>
          <p:cNvSpPr txBox="1"/>
          <p:nvPr/>
        </p:nvSpPr>
        <p:spPr>
          <a:xfrm>
            <a:off x="9756273" y="2659229"/>
            <a:ext cx="1917713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Concentration Risk</a:t>
            </a:r>
            <a:endParaRPr lang="en-US" sz="980" dirty="0">
              <a:latin typeface="Ubuntu" panose="020B0504030602030204" pitchFamily="34" charset="0"/>
            </a:endParaRPr>
          </a:p>
        </p:txBody>
      </p:sp>
      <p:sp>
        <p:nvSpPr>
          <p:cNvPr id="132" name="Text 111">
            <a:extLst>
              <a:ext uri="{FF2B5EF4-FFF2-40B4-BE49-F238E27FC236}">
                <a16:creationId xmlns:a16="http://schemas.microsoft.com/office/drawing/2014/main" id="{5498CE22-D27F-EA97-9E88-42A3C4D96C9C}"/>
              </a:ext>
            </a:extLst>
          </p:cNvPr>
          <p:cNvSpPr txBox="1"/>
          <p:nvPr/>
        </p:nvSpPr>
        <p:spPr>
          <a:xfrm>
            <a:off x="9756273" y="2790413"/>
            <a:ext cx="1917713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Identify and mitigate single points of failure</a:t>
            </a:r>
            <a:endParaRPr lang="en-US" sz="750" dirty="0">
              <a:latin typeface="Ubuntu" panose="020B0504030602030204" pitchFamily="34" charset="0"/>
            </a:endParaRPr>
          </a:p>
        </p:txBody>
      </p:sp>
      <p:sp>
        <p:nvSpPr>
          <p:cNvPr id="133" name="Shape 112">
            <a:extLst>
              <a:ext uri="{FF2B5EF4-FFF2-40B4-BE49-F238E27FC236}">
                <a16:creationId xmlns:a16="http://schemas.microsoft.com/office/drawing/2014/main" id="{24CB085B-AC95-BF63-4DD5-23934BA7909B}"/>
              </a:ext>
            </a:extLst>
          </p:cNvPr>
          <p:cNvSpPr/>
          <p:nvPr/>
        </p:nvSpPr>
        <p:spPr>
          <a:xfrm>
            <a:off x="9245855" y="3030917"/>
            <a:ext cx="2515631" cy="378976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34" name="Image 21" descr="preencoded.png">
            <a:extLst>
              <a:ext uri="{FF2B5EF4-FFF2-40B4-BE49-F238E27FC236}">
                <a16:creationId xmlns:a16="http://schemas.microsoft.com/office/drawing/2014/main" id="{C1AB0AE9-9100-5788-2668-A2313FDEE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362522" y="3103797"/>
            <a:ext cx="247917" cy="247792"/>
          </a:xfrm>
          <a:prstGeom prst="rect">
            <a:avLst/>
          </a:prstGeom>
        </p:spPr>
      </p:pic>
      <p:sp>
        <p:nvSpPr>
          <p:cNvPr id="135" name="Text 113">
            <a:extLst>
              <a:ext uri="{FF2B5EF4-FFF2-40B4-BE49-F238E27FC236}">
                <a16:creationId xmlns:a16="http://schemas.microsoft.com/office/drawing/2014/main" id="{CAF5C8CA-798E-51C7-D8E7-295930E8DB26}"/>
              </a:ext>
            </a:extLst>
          </p:cNvPr>
          <p:cNvSpPr txBox="1"/>
          <p:nvPr/>
        </p:nvSpPr>
        <p:spPr>
          <a:xfrm>
            <a:off x="9756273" y="3081933"/>
            <a:ext cx="1917713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Vendor Consolidation Opportunities</a:t>
            </a:r>
            <a:endParaRPr lang="en-US" sz="980" dirty="0">
              <a:latin typeface="Ubuntu" panose="020B0504030602030204" pitchFamily="34" charset="0"/>
            </a:endParaRPr>
          </a:p>
        </p:txBody>
      </p:sp>
      <p:sp>
        <p:nvSpPr>
          <p:cNvPr id="136" name="Text 114">
            <a:extLst>
              <a:ext uri="{FF2B5EF4-FFF2-40B4-BE49-F238E27FC236}">
                <a16:creationId xmlns:a16="http://schemas.microsoft.com/office/drawing/2014/main" id="{D77D7180-2D49-E63A-222E-E12D06F9C5D7}"/>
              </a:ext>
            </a:extLst>
          </p:cNvPr>
          <p:cNvSpPr txBox="1"/>
          <p:nvPr/>
        </p:nvSpPr>
        <p:spPr>
          <a:xfrm>
            <a:off x="9756273" y="3213117"/>
            <a:ext cx="1917713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Find and realize savings</a:t>
            </a:r>
            <a:endParaRPr lang="en-US" sz="750" dirty="0">
              <a:latin typeface="Ubuntu" panose="020B0504030602030204" pitchFamily="34" charset="0"/>
            </a:endParaRPr>
          </a:p>
        </p:txBody>
      </p:sp>
      <p:sp>
        <p:nvSpPr>
          <p:cNvPr id="137" name="Shape 115">
            <a:extLst>
              <a:ext uri="{FF2B5EF4-FFF2-40B4-BE49-F238E27FC236}">
                <a16:creationId xmlns:a16="http://schemas.microsoft.com/office/drawing/2014/main" id="{2E901A46-865F-FE0B-EAE9-BD84F79A9B37}"/>
              </a:ext>
            </a:extLst>
          </p:cNvPr>
          <p:cNvSpPr/>
          <p:nvPr/>
        </p:nvSpPr>
        <p:spPr>
          <a:xfrm>
            <a:off x="9245855" y="3453620"/>
            <a:ext cx="2515631" cy="378976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38" name="Image 22" descr="preencoded.png">
            <a:extLst>
              <a:ext uri="{FF2B5EF4-FFF2-40B4-BE49-F238E27FC236}">
                <a16:creationId xmlns:a16="http://schemas.microsoft.com/office/drawing/2014/main" id="{96D2F04C-5112-4E67-2CB2-E6B517AB40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362522" y="3526500"/>
            <a:ext cx="247917" cy="247792"/>
          </a:xfrm>
          <a:prstGeom prst="rect">
            <a:avLst/>
          </a:prstGeom>
        </p:spPr>
      </p:pic>
      <p:sp>
        <p:nvSpPr>
          <p:cNvPr id="139" name="Text 116">
            <a:extLst>
              <a:ext uri="{FF2B5EF4-FFF2-40B4-BE49-F238E27FC236}">
                <a16:creationId xmlns:a16="http://schemas.microsoft.com/office/drawing/2014/main" id="{57B2D57B-267C-7E30-22A8-BA8FC0E7CB17}"/>
              </a:ext>
            </a:extLst>
          </p:cNvPr>
          <p:cNvSpPr txBox="1"/>
          <p:nvPr/>
        </p:nvSpPr>
        <p:spPr>
          <a:xfrm>
            <a:off x="9756273" y="3504636"/>
            <a:ext cx="1917713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Spend vs Forecast Variance</a:t>
            </a:r>
            <a:endParaRPr lang="en-US" sz="980" dirty="0">
              <a:latin typeface="Ubuntu" panose="020B0504030602030204" pitchFamily="34" charset="0"/>
            </a:endParaRPr>
          </a:p>
        </p:txBody>
      </p:sp>
      <p:sp>
        <p:nvSpPr>
          <p:cNvPr id="140" name="Text 117">
            <a:extLst>
              <a:ext uri="{FF2B5EF4-FFF2-40B4-BE49-F238E27FC236}">
                <a16:creationId xmlns:a16="http://schemas.microsoft.com/office/drawing/2014/main" id="{CE6B11EB-D356-9B25-30D0-5E563CB7FE5B}"/>
              </a:ext>
            </a:extLst>
          </p:cNvPr>
          <p:cNvSpPr txBox="1"/>
          <p:nvPr/>
        </p:nvSpPr>
        <p:spPr>
          <a:xfrm>
            <a:off x="9756273" y="3635820"/>
            <a:ext cx="1917713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Detect changes and take action</a:t>
            </a:r>
            <a:endParaRPr lang="en-US" sz="750" dirty="0">
              <a:latin typeface="Ubuntu" panose="020B0504030602030204" pitchFamily="34" charset="0"/>
            </a:endParaRPr>
          </a:p>
        </p:txBody>
      </p:sp>
      <p:sp>
        <p:nvSpPr>
          <p:cNvPr id="141" name="Shape 118">
            <a:extLst>
              <a:ext uri="{FF2B5EF4-FFF2-40B4-BE49-F238E27FC236}">
                <a16:creationId xmlns:a16="http://schemas.microsoft.com/office/drawing/2014/main" id="{2721A275-7E3D-5271-AA5F-40FC79D76AB7}"/>
              </a:ext>
            </a:extLst>
          </p:cNvPr>
          <p:cNvSpPr/>
          <p:nvPr/>
        </p:nvSpPr>
        <p:spPr>
          <a:xfrm>
            <a:off x="9245855" y="3876324"/>
            <a:ext cx="2515631" cy="378976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42" name="Image 23" descr="preencoded.png">
            <a:extLst>
              <a:ext uri="{FF2B5EF4-FFF2-40B4-BE49-F238E27FC236}">
                <a16:creationId xmlns:a16="http://schemas.microsoft.com/office/drawing/2014/main" id="{D510337B-20D1-87FA-0B14-444114A07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362522" y="3949204"/>
            <a:ext cx="247917" cy="247792"/>
          </a:xfrm>
          <a:prstGeom prst="rect">
            <a:avLst/>
          </a:prstGeom>
        </p:spPr>
      </p:pic>
      <p:sp>
        <p:nvSpPr>
          <p:cNvPr id="143" name="Text 119">
            <a:extLst>
              <a:ext uri="{FF2B5EF4-FFF2-40B4-BE49-F238E27FC236}">
                <a16:creationId xmlns:a16="http://schemas.microsoft.com/office/drawing/2014/main" id="{AD3E1290-7F67-BAA6-E87B-2E6FBFBCED9C}"/>
              </a:ext>
            </a:extLst>
          </p:cNvPr>
          <p:cNvSpPr txBox="1"/>
          <p:nvPr/>
        </p:nvSpPr>
        <p:spPr>
          <a:xfrm>
            <a:off x="9756273" y="3927340"/>
            <a:ext cx="1917713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72A6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What-if Decision Support</a:t>
            </a:r>
            <a:endParaRPr lang="en-US" sz="980" dirty="0">
              <a:latin typeface="Ubuntu" panose="020B0504030602030204" pitchFamily="34" charset="0"/>
            </a:endParaRPr>
          </a:p>
        </p:txBody>
      </p:sp>
      <p:sp>
        <p:nvSpPr>
          <p:cNvPr id="144" name="Text 120">
            <a:extLst>
              <a:ext uri="{FF2B5EF4-FFF2-40B4-BE49-F238E27FC236}">
                <a16:creationId xmlns:a16="http://schemas.microsoft.com/office/drawing/2014/main" id="{D0D94E03-5B88-755E-91BE-2E3831286169}"/>
              </a:ext>
            </a:extLst>
          </p:cNvPr>
          <p:cNvSpPr txBox="1"/>
          <p:nvPr/>
        </p:nvSpPr>
        <p:spPr>
          <a:xfrm>
            <a:off x="9756273" y="4058524"/>
            <a:ext cx="1917713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F4A86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Model scenarios and assess impact</a:t>
            </a:r>
            <a:endParaRPr lang="en-US" sz="750" dirty="0">
              <a:latin typeface="Ubuntu" panose="020B0504030602030204" pitchFamily="34" charset="0"/>
            </a:endParaRPr>
          </a:p>
        </p:txBody>
      </p:sp>
      <p:sp>
        <p:nvSpPr>
          <p:cNvPr id="145" name="Shape 121">
            <a:extLst>
              <a:ext uri="{FF2B5EF4-FFF2-40B4-BE49-F238E27FC236}">
                <a16:creationId xmlns:a16="http://schemas.microsoft.com/office/drawing/2014/main" id="{03497F93-8E7C-D00E-1265-99D9127BAE86}"/>
              </a:ext>
            </a:extLst>
          </p:cNvPr>
          <p:cNvSpPr/>
          <p:nvPr/>
        </p:nvSpPr>
        <p:spPr>
          <a:xfrm>
            <a:off x="9245855" y="4401059"/>
            <a:ext cx="2515631" cy="947439"/>
          </a:xfrm>
          <a:prstGeom prst="roundRect">
            <a:avLst>
              <a:gd name="adj" fmla="val 5791"/>
            </a:avLst>
          </a:prstGeom>
          <a:solidFill>
            <a:srgbClr val="FFF1E8"/>
          </a:solidFill>
          <a:ln w="12700">
            <a:solidFill>
              <a:srgbClr val="F99A69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46" name="Image 24" descr="preencoded.png">
            <a:extLst>
              <a:ext uri="{FF2B5EF4-FFF2-40B4-BE49-F238E27FC236}">
                <a16:creationId xmlns:a16="http://schemas.microsoft.com/office/drawing/2014/main" id="{488DFFB4-9A6A-EF4B-5F92-1AFAA7020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420855" y="4554107"/>
            <a:ext cx="306251" cy="306096"/>
          </a:xfrm>
          <a:prstGeom prst="rect">
            <a:avLst/>
          </a:prstGeom>
        </p:spPr>
      </p:pic>
      <p:sp>
        <p:nvSpPr>
          <p:cNvPr id="147" name="Text 122">
            <a:extLst>
              <a:ext uri="{FF2B5EF4-FFF2-40B4-BE49-F238E27FC236}">
                <a16:creationId xmlns:a16="http://schemas.microsoft.com/office/drawing/2014/main" id="{45B485D6-7C43-FE4B-3661-528EF1EF6C70}"/>
              </a:ext>
            </a:extLst>
          </p:cNvPr>
          <p:cNvSpPr txBox="1"/>
          <p:nvPr/>
        </p:nvSpPr>
        <p:spPr>
          <a:xfrm>
            <a:off x="9916690" y="4444787"/>
            <a:ext cx="138542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4A0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1250" dirty="0">
              <a:latin typeface="Ubuntu" panose="020B0504030602030204" pitchFamily="34" charset="0"/>
            </a:endParaRPr>
          </a:p>
        </p:txBody>
      </p:sp>
      <p:sp>
        <p:nvSpPr>
          <p:cNvPr id="148" name="Text 123">
            <a:extLst>
              <a:ext uri="{FF2B5EF4-FFF2-40B4-BE49-F238E27FC236}">
                <a16:creationId xmlns:a16="http://schemas.microsoft.com/office/drawing/2014/main" id="{C4E9D7B0-E2A6-9439-66F8-82F96F542A88}"/>
              </a:ext>
            </a:extLst>
          </p:cNvPr>
          <p:cNvSpPr txBox="1"/>
          <p:nvPr/>
        </p:nvSpPr>
        <p:spPr>
          <a:xfrm>
            <a:off x="9916690" y="4656139"/>
            <a:ext cx="1640629" cy="59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F04A0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•  Faster executive answers</a:t>
            </a:r>
            <a:endParaRPr lang="en-US" sz="88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80" dirty="0">
                <a:solidFill>
                  <a:srgbClr val="F04A0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•  Better sourcing decisions</a:t>
            </a:r>
            <a:endParaRPr lang="en-US" sz="88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80" dirty="0">
                <a:solidFill>
                  <a:srgbClr val="F04A0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•  Proactive risk management</a:t>
            </a:r>
            <a:endParaRPr lang="en-US" sz="880" dirty="0">
              <a:latin typeface="Ubuntu" panose="020B0504030602030204" pitchFamily="34" charset="0"/>
            </a:endParaRPr>
          </a:p>
          <a:p>
            <a:pPr marL="0" indent="0" algn="l">
              <a:buNone/>
            </a:pPr>
            <a:r>
              <a:rPr lang="en-US" sz="880" dirty="0">
                <a:solidFill>
                  <a:srgbClr val="F04A0B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•  Fact-based vendor optimization</a:t>
            </a:r>
            <a:endParaRPr lang="en-US" sz="880" dirty="0">
              <a:latin typeface="Ubuntu" panose="020B0504030602030204" pitchFamily="34" charset="0"/>
            </a:endParaRPr>
          </a:p>
        </p:txBody>
      </p:sp>
      <p:sp>
        <p:nvSpPr>
          <p:cNvPr id="149" name="Shape 124">
            <a:extLst>
              <a:ext uri="{FF2B5EF4-FFF2-40B4-BE49-F238E27FC236}">
                <a16:creationId xmlns:a16="http://schemas.microsoft.com/office/drawing/2014/main" id="{1D8E3457-F69D-1523-F100-230604BF9CA1}"/>
              </a:ext>
            </a:extLst>
          </p:cNvPr>
          <p:cNvSpPr/>
          <p:nvPr/>
        </p:nvSpPr>
        <p:spPr>
          <a:xfrm>
            <a:off x="2785423" y="3220405"/>
            <a:ext cx="247917" cy="0"/>
          </a:xfrm>
          <a:prstGeom prst="line">
            <a:avLst/>
          </a:prstGeom>
          <a:noFill/>
          <a:ln w="50800">
            <a:solidFill>
              <a:srgbClr val="0089E8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50" name="Shape 125">
            <a:extLst>
              <a:ext uri="{FF2B5EF4-FFF2-40B4-BE49-F238E27FC236}">
                <a16:creationId xmlns:a16="http://schemas.microsoft.com/office/drawing/2014/main" id="{417A276F-0243-9EF2-C333-7498DC3AE6B8}"/>
              </a:ext>
            </a:extLst>
          </p:cNvPr>
          <p:cNvSpPr/>
          <p:nvPr/>
        </p:nvSpPr>
        <p:spPr>
          <a:xfrm flipV="1">
            <a:off x="6154063" y="3213461"/>
            <a:ext cx="335417" cy="1717"/>
          </a:xfrm>
          <a:prstGeom prst="line">
            <a:avLst/>
          </a:prstGeom>
          <a:noFill/>
          <a:ln w="50800">
            <a:solidFill>
              <a:srgbClr val="6C11C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51" name="Shape 126">
            <a:extLst>
              <a:ext uri="{FF2B5EF4-FFF2-40B4-BE49-F238E27FC236}">
                <a16:creationId xmlns:a16="http://schemas.microsoft.com/office/drawing/2014/main" id="{A66625E0-DDA5-3E9F-B7F3-1455D52F348D}"/>
              </a:ext>
            </a:extLst>
          </p:cNvPr>
          <p:cNvSpPr/>
          <p:nvPr/>
        </p:nvSpPr>
        <p:spPr>
          <a:xfrm>
            <a:off x="8997938" y="3220405"/>
            <a:ext cx="204167" cy="0"/>
          </a:xfrm>
          <a:prstGeom prst="line">
            <a:avLst/>
          </a:prstGeom>
          <a:noFill/>
          <a:ln w="50800">
            <a:solidFill>
              <a:srgbClr val="0B8C87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68" name="Shape 139">
            <a:extLst>
              <a:ext uri="{FF2B5EF4-FFF2-40B4-BE49-F238E27FC236}">
                <a16:creationId xmlns:a16="http://schemas.microsoft.com/office/drawing/2014/main" id="{992AE431-1F37-A2A5-68C3-1C4AB63EE7AF}"/>
              </a:ext>
            </a:extLst>
          </p:cNvPr>
          <p:cNvSpPr/>
          <p:nvPr/>
        </p:nvSpPr>
        <p:spPr>
          <a:xfrm>
            <a:off x="226042" y="5688857"/>
            <a:ext cx="11550027" cy="451855"/>
          </a:xfrm>
          <a:prstGeom prst="roundRect">
            <a:avLst>
              <a:gd name="adj" fmla="val 12142"/>
            </a:avLst>
          </a:prstGeom>
          <a:solidFill>
            <a:srgbClr val="FFFFFF"/>
          </a:solidFill>
          <a:ln w="12700">
            <a:solidFill>
              <a:srgbClr val="7B9CCA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69" name="Shape 140">
            <a:extLst>
              <a:ext uri="{FF2B5EF4-FFF2-40B4-BE49-F238E27FC236}">
                <a16:creationId xmlns:a16="http://schemas.microsoft.com/office/drawing/2014/main" id="{E1A7EA97-8A25-881E-2C7F-E69913EF034C}"/>
              </a:ext>
            </a:extLst>
          </p:cNvPr>
          <p:cNvSpPr/>
          <p:nvPr/>
        </p:nvSpPr>
        <p:spPr>
          <a:xfrm>
            <a:off x="226042" y="5688857"/>
            <a:ext cx="2347922" cy="451855"/>
          </a:xfrm>
          <a:prstGeom prst="roundRect">
            <a:avLst/>
          </a:prstGeom>
          <a:solidFill>
            <a:srgbClr val="062C73"/>
          </a:solidFill>
          <a:ln w="6350">
            <a:solidFill>
              <a:srgbClr val="062C73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170" name="Text 141">
            <a:extLst>
              <a:ext uri="{FF2B5EF4-FFF2-40B4-BE49-F238E27FC236}">
                <a16:creationId xmlns:a16="http://schemas.microsoft.com/office/drawing/2014/main" id="{C02FF7B5-50F2-1FAF-ECD5-CEEB91DBB515}"/>
              </a:ext>
            </a:extLst>
          </p:cNvPr>
          <p:cNvSpPr txBox="1"/>
          <p:nvPr/>
        </p:nvSpPr>
        <p:spPr>
          <a:xfrm>
            <a:off x="532293" y="5769025"/>
            <a:ext cx="1713546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Cross-Cutting Controls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71" name="Text 142">
            <a:extLst>
              <a:ext uri="{FF2B5EF4-FFF2-40B4-BE49-F238E27FC236}">
                <a16:creationId xmlns:a16="http://schemas.microsoft.com/office/drawing/2014/main" id="{24ACBEFF-E025-DCC6-1F85-0F556942A53F}"/>
              </a:ext>
            </a:extLst>
          </p:cNvPr>
          <p:cNvSpPr txBox="1"/>
          <p:nvPr/>
        </p:nvSpPr>
        <p:spPr>
          <a:xfrm>
            <a:off x="532293" y="5951225"/>
            <a:ext cx="1713546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D9E7FF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Security, governance and operational excellence</a:t>
            </a:r>
            <a:endParaRPr lang="en-US" sz="680" dirty="0">
              <a:latin typeface="Ubuntu" panose="020B0504030602030204" pitchFamily="34" charset="0"/>
            </a:endParaRPr>
          </a:p>
        </p:txBody>
      </p:sp>
      <p:pic>
        <p:nvPicPr>
          <p:cNvPr id="172" name="Image 29" descr="preencoded.png">
            <a:extLst>
              <a:ext uri="{FF2B5EF4-FFF2-40B4-BE49-F238E27FC236}">
                <a16:creationId xmlns:a16="http://schemas.microsoft.com/office/drawing/2014/main" id="{FC7AE2E7-1CA2-7FA2-AD43-87A85863C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829173" y="5790889"/>
            <a:ext cx="233334" cy="233216"/>
          </a:xfrm>
          <a:prstGeom prst="rect">
            <a:avLst/>
          </a:prstGeom>
        </p:spPr>
      </p:pic>
      <p:sp>
        <p:nvSpPr>
          <p:cNvPr id="173" name="Text 143">
            <a:extLst>
              <a:ext uri="{FF2B5EF4-FFF2-40B4-BE49-F238E27FC236}">
                <a16:creationId xmlns:a16="http://schemas.microsoft.com/office/drawing/2014/main" id="{4A0340EB-74B1-D2F1-2089-01135E1689AC}"/>
              </a:ext>
            </a:extLst>
          </p:cNvPr>
          <p:cNvSpPr txBox="1"/>
          <p:nvPr/>
        </p:nvSpPr>
        <p:spPr>
          <a:xfrm>
            <a:off x="3142716" y="5783601"/>
            <a:ext cx="87500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A337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RBAC</a:t>
            </a:r>
            <a:endParaRPr lang="en-US" sz="920" dirty="0">
              <a:latin typeface="Ubuntu" panose="020B0504030602030204" pitchFamily="34" charset="0"/>
            </a:endParaRPr>
          </a:p>
        </p:txBody>
      </p:sp>
      <p:sp>
        <p:nvSpPr>
          <p:cNvPr id="174" name="Shape 144">
            <a:extLst>
              <a:ext uri="{FF2B5EF4-FFF2-40B4-BE49-F238E27FC236}">
                <a16:creationId xmlns:a16="http://schemas.microsoft.com/office/drawing/2014/main" id="{AFAE1C16-5028-EDC1-45A7-146526616440}"/>
              </a:ext>
            </a:extLst>
          </p:cNvPr>
          <p:cNvSpPr/>
          <p:nvPr/>
        </p:nvSpPr>
        <p:spPr>
          <a:xfrm>
            <a:off x="3959384" y="5805465"/>
            <a:ext cx="0" cy="240504"/>
          </a:xfrm>
          <a:prstGeom prst="line">
            <a:avLst/>
          </a:prstGeom>
          <a:noFill/>
          <a:ln w="10160">
            <a:solidFill>
              <a:srgbClr val="96B0D2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75" name="Image 30" descr="preencoded.png">
            <a:extLst>
              <a:ext uri="{FF2B5EF4-FFF2-40B4-BE49-F238E27FC236}">
                <a16:creationId xmlns:a16="http://schemas.microsoft.com/office/drawing/2014/main" id="{7A4392CE-D3FB-FF38-7F05-99D88ADB6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156260" y="5790889"/>
            <a:ext cx="233334" cy="233216"/>
          </a:xfrm>
          <a:prstGeom prst="rect">
            <a:avLst/>
          </a:prstGeom>
        </p:spPr>
      </p:pic>
      <p:sp>
        <p:nvSpPr>
          <p:cNvPr id="176" name="Text 145">
            <a:extLst>
              <a:ext uri="{FF2B5EF4-FFF2-40B4-BE49-F238E27FC236}">
                <a16:creationId xmlns:a16="http://schemas.microsoft.com/office/drawing/2014/main" id="{6D6F04F9-A53A-756C-DA5A-DC7666F5672B}"/>
              </a:ext>
            </a:extLst>
          </p:cNvPr>
          <p:cNvSpPr txBox="1"/>
          <p:nvPr/>
        </p:nvSpPr>
        <p:spPr>
          <a:xfrm>
            <a:off x="4469802" y="5783601"/>
            <a:ext cx="87500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A337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PII Protection</a:t>
            </a:r>
            <a:endParaRPr lang="en-US" sz="920" dirty="0">
              <a:latin typeface="Ubuntu" panose="020B0504030602030204" pitchFamily="34" charset="0"/>
            </a:endParaRPr>
          </a:p>
        </p:txBody>
      </p:sp>
      <p:sp>
        <p:nvSpPr>
          <p:cNvPr id="177" name="Shape 146">
            <a:extLst>
              <a:ext uri="{FF2B5EF4-FFF2-40B4-BE49-F238E27FC236}">
                <a16:creationId xmlns:a16="http://schemas.microsoft.com/office/drawing/2014/main" id="{0391BFD3-891F-B9D6-3425-DA449ADB1D62}"/>
              </a:ext>
            </a:extLst>
          </p:cNvPr>
          <p:cNvSpPr/>
          <p:nvPr/>
        </p:nvSpPr>
        <p:spPr>
          <a:xfrm>
            <a:off x="5556263" y="5805465"/>
            <a:ext cx="0" cy="240504"/>
          </a:xfrm>
          <a:prstGeom prst="line">
            <a:avLst/>
          </a:prstGeom>
          <a:noFill/>
          <a:ln w="10160">
            <a:solidFill>
              <a:srgbClr val="96B0D2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78" name="Image 31" descr="preencoded.png">
            <a:extLst>
              <a:ext uri="{FF2B5EF4-FFF2-40B4-BE49-F238E27FC236}">
                <a16:creationId xmlns:a16="http://schemas.microsoft.com/office/drawing/2014/main" id="{567EC788-2F87-180F-993D-BF17B0004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53138" y="5790889"/>
            <a:ext cx="233334" cy="233216"/>
          </a:xfrm>
          <a:prstGeom prst="rect">
            <a:avLst/>
          </a:prstGeom>
        </p:spPr>
      </p:pic>
      <p:sp>
        <p:nvSpPr>
          <p:cNvPr id="179" name="Text 147">
            <a:extLst>
              <a:ext uri="{FF2B5EF4-FFF2-40B4-BE49-F238E27FC236}">
                <a16:creationId xmlns:a16="http://schemas.microsoft.com/office/drawing/2014/main" id="{E16BAF1A-E631-D276-3EE4-BB5E502073C2}"/>
              </a:ext>
            </a:extLst>
          </p:cNvPr>
          <p:cNvSpPr txBox="1"/>
          <p:nvPr/>
        </p:nvSpPr>
        <p:spPr>
          <a:xfrm>
            <a:off x="6066681" y="5783601"/>
            <a:ext cx="87500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A337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Lineage</a:t>
            </a:r>
            <a:endParaRPr lang="en-US" sz="920" dirty="0">
              <a:latin typeface="Ubuntu" panose="020B0504030602030204" pitchFamily="34" charset="0"/>
            </a:endParaRPr>
          </a:p>
        </p:txBody>
      </p:sp>
      <p:sp>
        <p:nvSpPr>
          <p:cNvPr id="180" name="Shape 148">
            <a:extLst>
              <a:ext uri="{FF2B5EF4-FFF2-40B4-BE49-F238E27FC236}">
                <a16:creationId xmlns:a16="http://schemas.microsoft.com/office/drawing/2014/main" id="{79E1F929-98EC-084B-15E9-F0E0253FA1C2}"/>
              </a:ext>
            </a:extLst>
          </p:cNvPr>
          <p:cNvSpPr/>
          <p:nvPr/>
        </p:nvSpPr>
        <p:spPr>
          <a:xfrm>
            <a:off x="6978141" y="5805465"/>
            <a:ext cx="0" cy="240504"/>
          </a:xfrm>
          <a:prstGeom prst="line">
            <a:avLst/>
          </a:prstGeom>
          <a:noFill/>
          <a:ln w="10160">
            <a:solidFill>
              <a:srgbClr val="96B0D2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81" name="Image 32" descr="preencoded.png">
            <a:extLst>
              <a:ext uri="{FF2B5EF4-FFF2-40B4-BE49-F238E27FC236}">
                <a16:creationId xmlns:a16="http://schemas.microsoft.com/office/drawing/2014/main" id="{72A658E8-751C-82AF-449C-74A57F236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175017" y="5790889"/>
            <a:ext cx="233334" cy="233216"/>
          </a:xfrm>
          <a:prstGeom prst="rect">
            <a:avLst/>
          </a:prstGeom>
        </p:spPr>
      </p:pic>
      <p:sp>
        <p:nvSpPr>
          <p:cNvPr id="182" name="Text 149">
            <a:extLst>
              <a:ext uri="{FF2B5EF4-FFF2-40B4-BE49-F238E27FC236}">
                <a16:creationId xmlns:a16="http://schemas.microsoft.com/office/drawing/2014/main" id="{B8AE75C0-BEBA-2C23-4AAB-233EFDE3D75E}"/>
              </a:ext>
            </a:extLst>
          </p:cNvPr>
          <p:cNvSpPr txBox="1"/>
          <p:nvPr/>
        </p:nvSpPr>
        <p:spPr>
          <a:xfrm>
            <a:off x="7488559" y="5783601"/>
            <a:ext cx="87500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A337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20" dirty="0">
              <a:latin typeface="Ubuntu" panose="020B0504030602030204" pitchFamily="34" charset="0"/>
            </a:endParaRPr>
          </a:p>
        </p:txBody>
      </p:sp>
      <p:sp>
        <p:nvSpPr>
          <p:cNvPr id="183" name="Shape 150">
            <a:extLst>
              <a:ext uri="{FF2B5EF4-FFF2-40B4-BE49-F238E27FC236}">
                <a16:creationId xmlns:a16="http://schemas.microsoft.com/office/drawing/2014/main" id="{E78BF87C-1305-7F10-C939-99252988B663}"/>
              </a:ext>
            </a:extLst>
          </p:cNvPr>
          <p:cNvSpPr/>
          <p:nvPr/>
        </p:nvSpPr>
        <p:spPr>
          <a:xfrm>
            <a:off x="8633354" y="5805465"/>
            <a:ext cx="0" cy="240504"/>
          </a:xfrm>
          <a:prstGeom prst="line">
            <a:avLst/>
          </a:prstGeom>
          <a:noFill/>
          <a:ln w="10160">
            <a:solidFill>
              <a:srgbClr val="96B0D2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84" name="Image 33" descr="preencoded.png">
            <a:extLst>
              <a:ext uri="{FF2B5EF4-FFF2-40B4-BE49-F238E27FC236}">
                <a16:creationId xmlns:a16="http://schemas.microsoft.com/office/drawing/2014/main" id="{90BC32C9-7915-6A40-4CD8-1BCA4A469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830229" y="5790889"/>
            <a:ext cx="233334" cy="233216"/>
          </a:xfrm>
          <a:prstGeom prst="rect">
            <a:avLst/>
          </a:prstGeom>
        </p:spPr>
      </p:pic>
      <p:sp>
        <p:nvSpPr>
          <p:cNvPr id="185" name="Text 151">
            <a:extLst>
              <a:ext uri="{FF2B5EF4-FFF2-40B4-BE49-F238E27FC236}">
                <a16:creationId xmlns:a16="http://schemas.microsoft.com/office/drawing/2014/main" id="{9BBC17B5-BEED-1A0B-5810-55DCA4ECBB93}"/>
              </a:ext>
            </a:extLst>
          </p:cNvPr>
          <p:cNvSpPr txBox="1"/>
          <p:nvPr/>
        </p:nvSpPr>
        <p:spPr>
          <a:xfrm>
            <a:off x="9143771" y="5783601"/>
            <a:ext cx="87500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A337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920" dirty="0">
              <a:latin typeface="Ubuntu" panose="020B0504030602030204" pitchFamily="34" charset="0"/>
            </a:endParaRPr>
          </a:p>
        </p:txBody>
      </p:sp>
      <p:sp>
        <p:nvSpPr>
          <p:cNvPr id="186" name="Shape 152">
            <a:extLst>
              <a:ext uri="{FF2B5EF4-FFF2-40B4-BE49-F238E27FC236}">
                <a16:creationId xmlns:a16="http://schemas.microsoft.com/office/drawing/2014/main" id="{7E3EC050-E72B-C0D1-1EAF-356023DC9909}"/>
              </a:ext>
            </a:extLst>
          </p:cNvPr>
          <p:cNvSpPr/>
          <p:nvPr/>
        </p:nvSpPr>
        <p:spPr>
          <a:xfrm>
            <a:off x="10186482" y="5805465"/>
            <a:ext cx="0" cy="240504"/>
          </a:xfrm>
          <a:prstGeom prst="line">
            <a:avLst/>
          </a:prstGeom>
          <a:noFill/>
          <a:ln w="10160">
            <a:solidFill>
              <a:srgbClr val="96B0D2"/>
            </a:solidFill>
            <a:prstDash val="solid"/>
          </a:ln>
        </p:spPr>
        <p:txBody>
          <a:bodyPr/>
          <a:lstStyle/>
          <a:p>
            <a:endParaRPr lang="en-US">
              <a:latin typeface="Ubuntu" panose="020B0504030602030204" pitchFamily="34" charset="0"/>
            </a:endParaRPr>
          </a:p>
        </p:txBody>
      </p:sp>
      <p:pic>
        <p:nvPicPr>
          <p:cNvPr id="187" name="Image 34" descr="preencoded.png">
            <a:extLst>
              <a:ext uri="{FF2B5EF4-FFF2-40B4-BE49-F238E27FC236}">
                <a16:creationId xmlns:a16="http://schemas.microsoft.com/office/drawing/2014/main" id="{342A6C4E-0656-204A-6A07-AF25944BA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383358" y="5790889"/>
            <a:ext cx="233334" cy="233216"/>
          </a:xfrm>
          <a:prstGeom prst="rect">
            <a:avLst/>
          </a:prstGeom>
        </p:spPr>
      </p:pic>
      <p:sp>
        <p:nvSpPr>
          <p:cNvPr id="188" name="Text 153">
            <a:extLst>
              <a:ext uri="{FF2B5EF4-FFF2-40B4-BE49-F238E27FC236}">
                <a16:creationId xmlns:a16="http://schemas.microsoft.com/office/drawing/2014/main" id="{42963C71-5C65-962F-6976-8C58EAB94803}"/>
              </a:ext>
            </a:extLst>
          </p:cNvPr>
          <p:cNvSpPr txBox="1"/>
          <p:nvPr/>
        </p:nvSpPr>
        <p:spPr>
          <a:xfrm>
            <a:off x="10696900" y="5783601"/>
            <a:ext cx="87500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A3377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920" dirty="0">
              <a:latin typeface="Ubuntu" panose="020B0504030602030204" pitchFamily="34" charset="0"/>
            </a:endParaRPr>
          </a:p>
        </p:txBody>
      </p:sp>
      <p:sp>
        <p:nvSpPr>
          <p:cNvPr id="189" name="Shape 154">
            <a:extLst>
              <a:ext uri="{FF2B5EF4-FFF2-40B4-BE49-F238E27FC236}">
                <a16:creationId xmlns:a16="http://schemas.microsoft.com/office/drawing/2014/main" id="{3470CCCD-0EE9-4AFA-69DB-7F25316D095C}"/>
              </a:ext>
            </a:extLst>
          </p:cNvPr>
          <p:cNvSpPr/>
          <p:nvPr/>
        </p:nvSpPr>
        <p:spPr>
          <a:xfrm>
            <a:off x="3179174" y="6247240"/>
            <a:ext cx="291667" cy="0"/>
          </a:xfrm>
          <a:prstGeom prst="line">
            <a:avLst/>
          </a:prstGeom>
          <a:noFill/>
          <a:ln w="26670">
            <a:solidFill>
              <a:srgbClr val="0089E8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0" name="Text 155">
            <a:extLst>
              <a:ext uri="{FF2B5EF4-FFF2-40B4-BE49-F238E27FC236}">
                <a16:creationId xmlns:a16="http://schemas.microsoft.com/office/drawing/2014/main" id="{91060760-0B4F-7816-9B35-594B173E3A7C}"/>
              </a:ext>
            </a:extLst>
          </p:cNvPr>
          <p:cNvSpPr txBox="1"/>
          <p:nvPr/>
        </p:nvSpPr>
        <p:spPr>
          <a:xfrm>
            <a:off x="3572925" y="6181648"/>
            <a:ext cx="597918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chemeClr val="bg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74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1" name="Shape 156">
            <a:extLst>
              <a:ext uri="{FF2B5EF4-FFF2-40B4-BE49-F238E27FC236}">
                <a16:creationId xmlns:a16="http://schemas.microsoft.com/office/drawing/2014/main" id="{155B2630-59D5-3DCF-3336-77E85B764F22}"/>
              </a:ext>
            </a:extLst>
          </p:cNvPr>
          <p:cNvSpPr/>
          <p:nvPr/>
        </p:nvSpPr>
        <p:spPr>
          <a:xfrm>
            <a:off x="4302093" y="6247240"/>
            <a:ext cx="320834" cy="0"/>
          </a:xfrm>
          <a:prstGeom prst="line">
            <a:avLst/>
          </a:prstGeom>
          <a:noFill/>
          <a:ln w="26670">
            <a:solidFill>
              <a:srgbClr val="6C11C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2" name="Text 157">
            <a:extLst>
              <a:ext uri="{FF2B5EF4-FFF2-40B4-BE49-F238E27FC236}">
                <a16:creationId xmlns:a16="http://schemas.microsoft.com/office/drawing/2014/main" id="{D9B5FA24-216E-1EE5-AAE1-0D7992F60C09}"/>
              </a:ext>
            </a:extLst>
          </p:cNvPr>
          <p:cNvSpPr txBox="1"/>
          <p:nvPr/>
        </p:nvSpPr>
        <p:spPr>
          <a:xfrm>
            <a:off x="4717719" y="6181648"/>
            <a:ext cx="765627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chemeClr val="bg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Agents Access</a:t>
            </a:r>
            <a:endParaRPr lang="en-US" sz="74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3" name="Shape 158">
            <a:extLst>
              <a:ext uri="{FF2B5EF4-FFF2-40B4-BE49-F238E27FC236}">
                <a16:creationId xmlns:a16="http://schemas.microsoft.com/office/drawing/2014/main" id="{0E63A1D1-C9A4-E036-AA08-3487DCE10349}"/>
              </a:ext>
            </a:extLst>
          </p:cNvPr>
          <p:cNvSpPr/>
          <p:nvPr/>
        </p:nvSpPr>
        <p:spPr>
          <a:xfrm>
            <a:off x="5614596" y="6247240"/>
            <a:ext cx="379168" cy="0"/>
          </a:xfrm>
          <a:prstGeom prst="line">
            <a:avLst/>
          </a:prstGeom>
          <a:noFill/>
          <a:ln w="26670">
            <a:solidFill>
              <a:srgbClr val="0B8C8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4" name="Text 159">
            <a:extLst>
              <a:ext uri="{FF2B5EF4-FFF2-40B4-BE49-F238E27FC236}">
                <a16:creationId xmlns:a16="http://schemas.microsoft.com/office/drawing/2014/main" id="{45E61020-8350-85E7-6CA4-A3169849B5C5}"/>
              </a:ext>
            </a:extLst>
          </p:cNvPr>
          <p:cNvSpPr txBox="1"/>
          <p:nvPr/>
        </p:nvSpPr>
        <p:spPr>
          <a:xfrm>
            <a:off x="6110431" y="6181648"/>
            <a:ext cx="1166669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chemeClr val="bg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Data &amp; Knowledge Access</a:t>
            </a:r>
            <a:endParaRPr lang="en-US" sz="74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5" name="Shape 160">
            <a:extLst>
              <a:ext uri="{FF2B5EF4-FFF2-40B4-BE49-F238E27FC236}">
                <a16:creationId xmlns:a16="http://schemas.microsoft.com/office/drawing/2014/main" id="{D20FDC4F-5508-F395-A796-C0ACDAC403C0}"/>
              </a:ext>
            </a:extLst>
          </p:cNvPr>
          <p:cNvSpPr/>
          <p:nvPr/>
        </p:nvSpPr>
        <p:spPr>
          <a:xfrm>
            <a:off x="7539601" y="6247240"/>
            <a:ext cx="313542" cy="0"/>
          </a:xfrm>
          <a:prstGeom prst="line">
            <a:avLst/>
          </a:prstGeom>
          <a:noFill/>
          <a:ln w="26670">
            <a:solidFill>
              <a:srgbClr val="F04A0B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6" name="Text 161">
            <a:extLst>
              <a:ext uri="{FF2B5EF4-FFF2-40B4-BE49-F238E27FC236}">
                <a16:creationId xmlns:a16="http://schemas.microsoft.com/office/drawing/2014/main" id="{EAE30560-D535-55EC-932D-26FDF084F8B4}"/>
              </a:ext>
            </a:extLst>
          </p:cNvPr>
          <p:cNvSpPr txBox="1"/>
          <p:nvPr/>
        </p:nvSpPr>
        <p:spPr>
          <a:xfrm>
            <a:off x="7947935" y="6181648"/>
            <a:ext cx="911460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chemeClr val="bg1"/>
                </a:solidFill>
                <a:latin typeface="Ubuntu" panose="020B0504030602030204" pitchFamily="34" charset="0"/>
                <a:ea typeface="Aptos" pitchFamily="34" charset="-122"/>
                <a:cs typeface="Aptos" pitchFamily="34" charset="-120"/>
              </a:rPr>
              <a:t>Insights Delivered</a:t>
            </a:r>
            <a:endParaRPr lang="en-US" sz="74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97" name="Date Placeholder 34">
            <a:extLst>
              <a:ext uri="{FF2B5EF4-FFF2-40B4-BE49-F238E27FC236}">
                <a16:creationId xmlns:a16="http://schemas.microsoft.com/office/drawing/2014/main" id="{2F195C08-2E1D-B001-CA01-AB885D8B78C8}"/>
              </a:ext>
            </a:extLst>
          </p:cNvPr>
          <p:cNvSpPr txBox="1">
            <a:spLocks/>
          </p:cNvSpPr>
          <p:nvPr/>
        </p:nvSpPr>
        <p:spPr>
          <a:xfrm>
            <a:off x="9876614" y="6650661"/>
            <a:ext cx="1764000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de-DE" sz="8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©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Capgemini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2026.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All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rights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reserved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98" name="Slide Number Placeholder 37">
            <a:extLst>
              <a:ext uri="{FF2B5EF4-FFF2-40B4-BE49-F238E27FC236}">
                <a16:creationId xmlns:a16="http://schemas.microsoft.com/office/drawing/2014/main" id="{BF0D242B-69F4-8758-F43C-DD1702A38446}"/>
              </a:ext>
            </a:extLst>
          </p:cNvPr>
          <p:cNvSpPr txBox="1">
            <a:spLocks/>
          </p:cNvSpPr>
          <p:nvPr/>
        </p:nvSpPr>
        <p:spPr>
          <a:xfrm>
            <a:off x="1177834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b="0" i="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9A5160-6218-4E5A-B9E6-B93E3DAE377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Arial" panose="020B0604020202020204" pitchFamily="34" charset="0"/>
            </a:endParaRPr>
          </a:p>
        </p:txBody>
      </p:sp>
      <p:sp>
        <p:nvSpPr>
          <p:cNvPr id="199" name="Footer Placeholder 9">
            <a:extLst>
              <a:ext uri="{FF2B5EF4-FFF2-40B4-BE49-F238E27FC236}">
                <a16:creationId xmlns:a16="http://schemas.microsoft.com/office/drawing/2014/main" id="{CD3990E2-7ADC-DE5E-D736-F8195AE54A7B}"/>
              </a:ext>
            </a:extLst>
          </p:cNvPr>
          <p:cNvSpPr txBox="1">
            <a:spLocks/>
          </p:cNvSpPr>
          <p:nvPr/>
        </p:nvSpPr>
        <p:spPr>
          <a:xfrm>
            <a:off x="550863" y="6495011"/>
            <a:ext cx="4716524" cy="27876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kern="1200" spc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AI | September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B915263-99F1-5FC0-EA3F-ECDC9056BEED}"/>
              </a:ext>
            </a:extLst>
          </p:cNvPr>
          <p:cNvSpPr/>
          <p:nvPr/>
        </p:nvSpPr>
        <p:spPr>
          <a:xfrm>
            <a:off x="8380317" y="6650661"/>
            <a:ext cx="142743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  <a:endParaRPr kumimoji="0" lang="en-PL" sz="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824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826A8-DE42-B9C2-7A56-74229947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2EA785-74F0-3AED-B274-818FE081A6E5}"/>
              </a:ext>
            </a:extLst>
          </p:cNvPr>
          <p:cNvSpPr txBox="1">
            <a:spLocks/>
          </p:cNvSpPr>
          <p:nvPr/>
        </p:nvSpPr>
        <p:spPr>
          <a:xfrm>
            <a:off x="502920" y="530352"/>
            <a:ext cx="11064240" cy="553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600" b="1" i="0" dirty="0">
                <a:solidFill>
                  <a:schemeClr val="bg1"/>
                </a:solidFill>
                <a:latin typeface="Ubuntu" panose="020B0504030602030204" pitchFamily="34" charset="0"/>
              </a:rPr>
              <a:t>Six decisions unlock the highest-value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3812F-E2AE-4649-0564-5BAE5BD1B56F}"/>
              </a:ext>
            </a:extLst>
          </p:cNvPr>
          <p:cNvSpPr txBox="1">
            <a:spLocks/>
          </p:cNvSpPr>
          <p:nvPr/>
        </p:nvSpPr>
        <p:spPr>
          <a:xfrm>
            <a:off x="502920" y="1060704"/>
            <a:ext cx="10972800" cy="26161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0" i="0">
                <a:solidFill>
                  <a:schemeClr val="bg1"/>
                </a:solidFill>
                <a:latin typeface="Ubuntu" panose="020B0504030602030204" pitchFamily="34" charset="0"/>
              </a:rPr>
              <a:t>Each use case turns connected vendor data into a specific management action.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4D3D8-7F19-E0FB-24FA-0198DE658F60}"/>
              </a:ext>
            </a:extLst>
          </p:cNvPr>
          <p:cNvSpPr txBox="1">
            <a:spLocks/>
          </p:cNvSpPr>
          <p:nvPr/>
        </p:nvSpPr>
        <p:spPr>
          <a:xfrm>
            <a:off x="594360" y="1591056"/>
            <a:ext cx="502920" cy="384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>
                <a:solidFill>
                  <a:schemeClr val="bg1"/>
                </a:solidFill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5DCC5-D869-409E-020B-CB89CD0C9111}"/>
              </a:ext>
            </a:extLst>
          </p:cNvPr>
          <p:cNvSpPr txBox="1">
            <a:spLocks/>
          </p:cNvSpPr>
          <p:nvPr/>
        </p:nvSpPr>
        <p:spPr>
          <a:xfrm>
            <a:off x="1261872" y="1591056"/>
            <a:ext cx="448056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Vendor 360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89A1B-EF10-F7B2-62BC-32A9AAB450D9}"/>
              </a:ext>
            </a:extLst>
          </p:cNvPr>
          <p:cNvSpPr txBox="1">
            <a:spLocks/>
          </p:cNvSpPr>
          <p:nvPr/>
        </p:nvSpPr>
        <p:spPr>
          <a:xfrm>
            <a:off x="1261872" y="2011680"/>
            <a:ext cx="448056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See contracts, spend, workforce and products together.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BE3B3-557D-9371-B481-40BF7350B240}"/>
              </a:ext>
            </a:extLst>
          </p:cNvPr>
          <p:cNvSpPr txBox="1">
            <a:spLocks/>
          </p:cNvSpPr>
          <p:nvPr/>
        </p:nvSpPr>
        <p:spPr>
          <a:xfrm>
            <a:off x="1261872" y="2468880"/>
            <a:ext cx="4498848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1">
                <a:solidFill>
                  <a:schemeClr val="bg1"/>
                </a:solidFill>
                <a:latin typeface="Ubuntu" panose="020B0504030602030204" pitchFamily="34" charset="0"/>
              </a:rPr>
              <a:t>What do we know about Vendor X?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2DAB2D79-823D-01CC-35B2-F916B8E76D3C}"/>
              </a:ext>
            </a:extLst>
          </p:cNvPr>
          <p:cNvCxnSpPr/>
          <p:nvPr/>
        </p:nvCxnSpPr>
        <p:spPr>
          <a:xfrm>
            <a:off x="6080760" y="1517904"/>
            <a:ext cx="0" cy="4654296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9769A4-F6D2-D107-A13F-ED87C74A334E}"/>
              </a:ext>
            </a:extLst>
          </p:cNvPr>
          <p:cNvSpPr txBox="1">
            <a:spLocks/>
          </p:cNvSpPr>
          <p:nvPr/>
        </p:nvSpPr>
        <p:spPr>
          <a:xfrm>
            <a:off x="6400800" y="1591056"/>
            <a:ext cx="502920" cy="384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>
                <a:solidFill>
                  <a:schemeClr val="bg1"/>
                </a:solidFill>
                <a:latin typeface="Ubuntu" panose="020B050403060203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90195-AC39-3962-7471-4D0F42F64F0B}"/>
              </a:ext>
            </a:extLst>
          </p:cNvPr>
          <p:cNvSpPr txBox="1">
            <a:spLocks/>
          </p:cNvSpPr>
          <p:nvPr/>
        </p:nvSpPr>
        <p:spPr>
          <a:xfrm>
            <a:off x="7068312" y="1591056"/>
            <a:ext cx="448056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Renewal prioritization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A28CC-F52F-4960-9EC5-48B88995C99D}"/>
              </a:ext>
            </a:extLst>
          </p:cNvPr>
          <p:cNvSpPr txBox="1">
            <a:spLocks/>
          </p:cNvSpPr>
          <p:nvPr/>
        </p:nvSpPr>
        <p:spPr>
          <a:xfrm>
            <a:off x="7068312" y="2011680"/>
            <a:ext cx="4480560" cy="43088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Surface expiring contracts and critical dependencies early.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29887-4FD7-E26A-911A-9D2EC6CB8929}"/>
              </a:ext>
            </a:extLst>
          </p:cNvPr>
          <p:cNvSpPr txBox="1">
            <a:spLocks/>
          </p:cNvSpPr>
          <p:nvPr/>
        </p:nvSpPr>
        <p:spPr>
          <a:xfrm>
            <a:off x="7068312" y="2468880"/>
            <a:ext cx="4498848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1">
                <a:solidFill>
                  <a:schemeClr val="bg1"/>
                </a:solidFill>
                <a:latin typeface="Ubuntu" panose="020B0504030602030204" pitchFamily="34" charset="0"/>
              </a:rPr>
              <a:t>Which contracts expire in the next 90 days?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D444B48E-24F9-9B70-0A70-56205D6D90C1}"/>
              </a:ext>
            </a:extLst>
          </p:cNvPr>
          <p:cNvCxnSpPr/>
          <p:nvPr/>
        </p:nvCxnSpPr>
        <p:spPr>
          <a:xfrm>
            <a:off x="594360" y="2999232"/>
            <a:ext cx="5193792" cy="0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F7DF534-E0AD-D09B-1D4D-BAFDA4DFE8D0}"/>
              </a:ext>
            </a:extLst>
          </p:cNvPr>
          <p:cNvSpPr txBox="1">
            <a:spLocks/>
          </p:cNvSpPr>
          <p:nvPr/>
        </p:nvSpPr>
        <p:spPr>
          <a:xfrm>
            <a:off x="594360" y="3145536"/>
            <a:ext cx="502920" cy="384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>
                <a:solidFill>
                  <a:schemeClr val="bg1"/>
                </a:solidFill>
                <a:latin typeface="Ubuntu" panose="020B050403060203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7D251-7E44-032B-0A75-503F2E916BEA}"/>
              </a:ext>
            </a:extLst>
          </p:cNvPr>
          <p:cNvSpPr txBox="1">
            <a:spLocks/>
          </p:cNvSpPr>
          <p:nvPr/>
        </p:nvSpPr>
        <p:spPr>
          <a:xfrm>
            <a:off x="1261872" y="3145536"/>
            <a:ext cx="448056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 dirty="0">
                <a:solidFill>
                  <a:schemeClr val="bg1"/>
                </a:solidFill>
                <a:latin typeface="Ubuntu" panose="020B0504030602030204" pitchFamily="34" charset="0"/>
              </a:rPr>
              <a:t>Risk visibility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A4C79A-20BE-E7BF-6EF8-16A98E589DA0}"/>
              </a:ext>
            </a:extLst>
          </p:cNvPr>
          <p:cNvSpPr txBox="1">
            <a:spLocks/>
          </p:cNvSpPr>
          <p:nvPr/>
        </p:nvSpPr>
        <p:spPr>
          <a:xfrm>
            <a:off x="1261872" y="3566160"/>
            <a:ext cx="4480560" cy="43088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Reveal operational dependence—not just spend concentration.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9D1C21-41D2-A4DA-8F13-87969B3AB5EF}"/>
              </a:ext>
            </a:extLst>
          </p:cNvPr>
          <p:cNvSpPr txBox="1">
            <a:spLocks/>
          </p:cNvSpPr>
          <p:nvPr/>
        </p:nvSpPr>
        <p:spPr>
          <a:xfrm>
            <a:off x="1261872" y="4023360"/>
            <a:ext cx="4498848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1">
                <a:solidFill>
                  <a:schemeClr val="bg1"/>
                </a:solidFill>
                <a:latin typeface="Ubuntu" panose="020B0504030602030204" pitchFamily="34" charset="0"/>
              </a:rPr>
              <a:t>How dependent are we on Vendor X?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83588F27-FEC6-8BD8-C9BC-0624D975E5C9}"/>
              </a:ext>
            </a:extLst>
          </p:cNvPr>
          <p:cNvCxnSpPr/>
          <p:nvPr/>
        </p:nvCxnSpPr>
        <p:spPr>
          <a:xfrm>
            <a:off x="6080760" y="1517904"/>
            <a:ext cx="0" cy="4654296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03403728-4443-6364-5AD6-F075354F53E6}"/>
              </a:ext>
            </a:extLst>
          </p:cNvPr>
          <p:cNvCxnSpPr/>
          <p:nvPr/>
        </p:nvCxnSpPr>
        <p:spPr>
          <a:xfrm>
            <a:off x="6400800" y="2999232"/>
            <a:ext cx="5193792" cy="0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CB0286-5A73-CF3D-0B7E-88F541D7075D}"/>
              </a:ext>
            </a:extLst>
          </p:cNvPr>
          <p:cNvSpPr txBox="1">
            <a:spLocks/>
          </p:cNvSpPr>
          <p:nvPr/>
        </p:nvSpPr>
        <p:spPr>
          <a:xfrm>
            <a:off x="6400800" y="3145536"/>
            <a:ext cx="502920" cy="384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>
                <a:solidFill>
                  <a:schemeClr val="bg1"/>
                </a:solidFill>
                <a:latin typeface="Ubuntu" panose="020B050403060203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598D12-F98A-E235-01E9-5D75437EBD49}"/>
              </a:ext>
            </a:extLst>
          </p:cNvPr>
          <p:cNvSpPr txBox="1">
            <a:spLocks/>
          </p:cNvSpPr>
          <p:nvPr/>
        </p:nvSpPr>
        <p:spPr>
          <a:xfrm>
            <a:off x="7068312" y="3145536"/>
            <a:ext cx="448056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Vendor rationalization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9A53D-1493-7345-0276-DFAB6BAEF64E}"/>
              </a:ext>
            </a:extLst>
          </p:cNvPr>
          <p:cNvSpPr txBox="1">
            <a:spLocks/>
          </p:cNvSpPr>
          <p:nvPr/>
        </p:nvSpPr>
        <p:spPr>
          <a:xfrm>
            <a:off x="7068312" y="3566160"/>
            <a:ext cx="448056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Find overlap and consolidation opportunities.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921C81-36DB-1584-57C2-4A5E76355C0D}"/>
              </a:ext>
            </a:extLst>
          </p:cNvPr>
          <p:cNvSpPr txBox="1">
            <a:spLocks/>
          </p:cNvSpPr>
          <p:nvPr/>
        </p:nvSpPr>
        <p:spPr>
          <a:xfrm>
            <a:off x="7068312" y="4023360"/>
            <a:ext cx="4498848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1">
                <a:solidFill>
                  <a:schemeClr val="bg1"/>
                </a:solidFill>
                <a:latin typeface="Ubuntu" panose="020B0504030602030204" pitchFamily="34" charset="0"/>
              </a:rPr>
              <a:t>Where can we simplify the vendor footprint?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27035470-1D2B-1661-A31C-F44A33C00793}"/>
              </a:ext>
            </a:extLst>
          </p:cNvPr>
          <p:cNvCxnSpPr/>
          <p:nvPr/>
        </p:nvCxnSpPr>
        <p:spPr>
          <a:xfrm>
            <a:off x="594360" y="4553712"/>
            <a:ext cx="5193792" cy="0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2E1190-3DDE-C97F-803A-D94F24917D35}"/>
              </a:ext>
            </a:extLst>
          </p:cNvPr>
          <p:cNvSpPr txBox="1">
            <a:spLocks/>
          </p:cNvSpPr>
          <p:nvPr/>
        </p:nvSpPr>
        <p:spPr>
          <a:xfrm>
            <a:off x="594360" y="4700016"/>
            <a:ext cx="502920" cy="384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>
                <a:solidFill>
                  <a:schemeClr val="bg1"/>
                </a:solidFill>
                <a:latin typeface="Ubuntu" panose="020B0504030602030204" pitchFamily="34" charset="0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BB7B6C-E876-D476-CF14-DB1FF7A91D76}"/>
              </a:ext>
            </a:extLst>
          </p:cNvPr>
          <p:cNvSpPr txBox="1">
            <a:spLocks/>
          </p:cNvSpPr>
          <p:nvPr/>
        </p:nvSpPr>
        <p:spPr>
          <a:xfrm>
            <a:off x="1261872" y="4700016"/>
            <a:ext cx="448056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Spend vs forecast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21EBC1-E1E1-5DBD-682E-CF60AF4B8424}"/>
              </a:ext>
            </a:extLst>
          </p:cNvPr>
          <p:cNvSpPr txBox="1">
            <a:spLocks/>
          </p:cNvSpPr>
          <p:nvPr/>
        </p:nvSpPr>
        <p:spPr>
          <a:xfrm>
            <a:off x="1261872" y="5120640"/>
            <a:ext cx="448056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Explain variance across vendors, units and products.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059C7A-31B4-686B-DFBD-640DFF1DECA3}"/>
              </a:ext>
            </a:extLst>
          </p:cNvPr>
          <p:cNvSpPr txBox="1">
            <a:spLocks/>
          </p:cNvSpPr>
          <p:nvPr/>
        </p:nvSpPr>
        <p:spPr>
          <a:xfrm>
            <a:off x="1261872" y="5577840"/>
            <a:ext cx="4498848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1">
                <a:solidFill>
                  <a:schemeClr val="bg1"/>
                </a:solidFill>
                <a:latin typeface="Ubuntu" panose="020B0504030602030204" pitchFamily="34" charset="0"/>
              </a:rPr>
              <a:t>Why is Vendor X trending above forecast?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7D316FB5-8A30-B12E-4743-9C02DEBF26DF}"/>
              </a:ext>
            </a:extLst>
          </p:cNvPr>
          <p:cNvCxnSpPr/>
          <p:nvPr/>
        </p:nvCxnSpPr>
        <p:spPr>
          <a:xfrm>
            <a:off x="6080760" y="1517904"/>
            <a:ext cx="0" cy="4654296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08AC7795-C2D8-4579-228C-CC87922EB4A5}"/>
              </a:ext>
            </a:extLst>
          </p:cNvPr>
          <p:cNvCxnSpPr/>
          <p:nvPr/>
        </p:nvCxnSpPr>
        <p:spPr>
          <a:xfrm>
            <a:off x="6400800" y="4553712"/>
            <a:ext cx="5193792" cy="0"/>
          </a:xfrm>
          <a:prstGeom prst="line">
            <a:avLst/>
          </a:prstGeom>
          <a:ln w="1270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DC45565-11D8-8716-788D-2610FA528C45}"/>
              </a:ext>
            </a:extLst>
          </p:cNvPr>
          <p:cNvSpPr txBox="1">
            <a:spLocks/>
          </p:cNvSpPr>
          <p:nvPr/>
        </p:nvSpPr>
        <p:spPr>
          <a:xfrm>
            <a:off x="6400800" y="4700016"/>
            <a:ext cx="502920" cy="384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500" b="1" i="0">
                <a:solidFill>
                  <a:schemeClr val="bg1"/>
                </a:solidFill>
                <a:latin typeface="Ubuntu" panose="020B0504030602030204" pitchFamily="34" charset="0"/>
              </a:rPr>
              <a:t>06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B613C7-2D12-068C-1CA6-703D415E9450}"/>
              </a:ext>
            </a:extLst>
          </p:cNvPr>
          <p:cNvSpPr txBox="1">
            <a:spLocks/>
          </p:cNvSpPr>
          <p:nvPr/>
        </p:nvSpPr>
        <p:spPr>
          <a:xfrm>
            <a:off x="7068312" y="4700016"/>
            <a:ext cx="448056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What-if decisions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F1118C-EF80-9413-1607-E99C17C06326}"/>
              </a:ext>
            </a:extLst>
          </p:cNvPr>
          <p:cNvSpPr txBox="1">
            <a:spLocks/>
          </p:cNvSpPr>
          <p:nvPr/>
        </p:nvSpPr>
        <p:spPr>
          <a:xfrm>
            <a:off x="7068312" y="5120640"/>
            <a:ext cx="448056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 dirty="0">
                <a:solidFill>
                  <a:schemeClr val="bg1"/>
                </a:solidFill>
                <a:latin typeface="Ubuntu" panose="020B0504030602030204" pitchFamily="34" charset="0"/>
              </a:rPr>
              <a:t>Model reductions or shifts before committing.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144432-DAA8-34FD-A053-0AD097BFD6C2}"/>
              </a:ext>
            </a:extLst>
          </p:cNvPr>
          <p:cNvSpPr txBox="1">
            <a:spLocks/>
          </p:cNvSpPr>
          <p:nvPr/>
        </p:nvSpPr>
        <p:spPr>
          <a:xfrm>
            <a:off x="7068312" y="5577840"/>
            <a:ext cx="4498848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1" dirty="0">
                <a:solidFill>
                  <a:schemeClr val="bg1"/>
                </a:solidFill>
                <a:latin typeface="Ubuntu" panose="020B0504030602030204" pitchFamily="34" charset="0"/>
              </a:rPr>
              <a:t>How can I use my India resources Effectively?</a:t>
            </a:r>
          </a:p>
        </p:txBody>
      </p:sp>
      <p:sp>
        <p:nvSpPr>
          <p:cNvPr id="5" name="Date Placeholder 34">
            <a:extLst>
              <a:ext uri="{FF2B5EF4-FFF2-40B4-BE49-F238E27FC236}">
                <a16:creationId xmlns:a16="http://schemas.microsoft.com/office/drawing/2014/main" id="{98AFA051-C16C-F019-CC17-0D2D7542A7B1}"/>
              </a:ext>
            </a:extLst>
          </p:cNvPr>
          <p:cNvSpPr txBox="1">
            <a:spLocks/>
          </p:cNvSpPr>
          <p:nvPr/>
        </p:nvSpPr>
        <p:spPr>
          <a:xfrm>
            <a:off x="9876614" y="6650661"/>
            <a:ext cx="1764000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de-DE" sz="80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©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Capgemini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2026.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All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rights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 </a:t>
            </a:r>
            <a:r>
              <a:rPr kumimoji="0" lang="pl-PL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reserved</a:t>
            </a:r>
            <a:r>
              <a:rPr kumimoji="0" lang="pl-PL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41" name="Slide Number Placeholder 37">
            <a:extLst>
              <a:ext uri="{FF2B5EF4-FFF2-40B4-BE49-F238E27FC236}">
                <a16:creationId xmlns:a16="http://schemas.microsoft.com/office/drawing/2014/main" id="{BA1A0E11-0BCF-893F-CDB4-173BFEB149CD}"/>
              </a:ext>
            </a:extLst>
          </p:cNvPr>
          <p:cNvSpPr txBox="1">
            <a:spLocks/>
          </p:cNvSpPr>
          <p:nvPr/>
        </p:nvSpPr>
        <p:spPr>
          <a:xfrm>
            <a:off x="11778341" y="6650661"/>
            <a:ext cx="232665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b="0" i="0" kern="120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9A5160-6218-4E5A-B9E6-B93E3DAE377C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Footer Placeholder 9">
            <a:extLst>
              <a:ext uri="{FF2B5EF4-FFF2-40B4-BE49-F238E27FC236}">
                <a16:creationId xmlns:a16="http://schemas.microsoft.com/office/drawing/2014/main" id="{9F45D996-91C2-09DB-8B89-9B0E24A9F783}"/>
              </a:ext>
            </a:extLst>
          </p:cNvPr>
          <p:cNvSpPr txBox="1">
            <a:spLocks/>
          </p:cNvSpPr>
          <p:nvPr/>
        </p:nvSpPr>
        <p:spPr>
          <a:xfrm>
            <a:off x="550863" y="6495011"/>
            <a:ext cx="4716524" cy="27876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kern="1200" spc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AI | September 2026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82DD45-AF47-3D25-2EFD-0DC38FE5CA19}"/>
              </a:ext>
            </a:extLst>
          </p:cNvPr>
          <p:cNvSpPr/>
          <p:nvPr/>
        </p:nvSpPr>
        <p:spPr>
          <a:xfrm>
            <a:off x="8380317" y="6650661"/>
            <a:ext cx="142743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Company Confidential</a:t>
            </a:r>
            <a:endParaRPr kumimoji="0" lang="en-PL" sz="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84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/>
          </p:cNvSpPr>
          <p:nvPr/>
        </p:nvSpPr>
        <p:spPr>
          <a:xfrm>
            <a:off x="502920" y="530352"/>
            <a:ext cx="11064240" cy="553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600" b="1" i="0">
                <a:solidFill>
                  <a:schemeClr val="bg1"/>
                </a:solidFill>
                <a:latin typeface="Ubuntu" panose="020B0504030602030204" pitchFamily="34" charset="0"/>
              </a:rPr>
              <a:t>A focused MVP can prove value in 90 days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02920" y="1060704"/>
            <a:ext cx="10972800" cy="26161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700" b="0" i="0">
                <a:solidFill>
                  <a:schemeClr val="bg1"/>
                </a:solidFill>
                <a:latin typeface="Ubuntu" panose="020B0504030602030204" pitchFamily="34" charset="0"/>
              </a:rPr>
              <a:t>Three phases move from priority questions to an executive-ready, governed demonstration.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901952"/>
            <a:ext cx="7927848" cy="0"/>
          </a:xfrm>
          <a:prstGeom prst="line">
            <a:avLst/>
          </a:prstGeom>
          <a:ln w="25400">
            <a:solidFill>
              <a:srgbClr val="A7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31520" y="1627632"/>
            <a:ext cx="548640" cy="548640"/>
          </a:xfrm>
          <a:prstGeom prst="ellipse">
            <a:avLst/>
          </a:prstGeom>
          <a:solidFill>
            <a:srgbClr val="12A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bg1"/>
                </a:solidFill>
                <a:latin typeface="Ubuntu" panose="020B0504030602030204" pitchFamily="34" charset="0"/>
              </a:rPr>
              <a:t>01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13232" y="2331720"/>
            <a:ext cx="224028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chemeClr val="bg1"/>
                </a:solidFill>
                <a:latin typeface="Ubuntu" panose="020B0504030602030204" pitchFamily="34" charset="0"/>
              </a:rPr>
              <a:t>0–30 DAYS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713232" y="2679192"/>
            <a:ext cx="233172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Align + map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713232" y="3246120"/>
            <a:ext cx="2331720" cy="154914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Prioritize top 20 questions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Map contracts, spend + workforce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Define metadata, ontology + controls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627632"/>
            <a:ext cx="548640" cy="548640"/>
          </a:xfrm>
          <a:prstGeom prst="ellipse">
            <a:avLst/>
          </a:prstGeom>
          <a:solidFill>
            <a:srgbClr val="6F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bg1"/>
                </a:solidFill>
                <a:latin typeface="Ubuntu" panose="020B0504030602030204" pitchFamily="34" charset="0"/>
              </a:rPr>
              <a:t>02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3410712" y="2331720"/>
            <a:ext cx="224028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chemeClr val="bg1"/>
                </a:solidFill>
                <a:latin typeface="Ubuntu" panose="020B0504030602030204" pitchFamily="34" charset="0"/>
              </a:rPr>
              <a:t>30–60 DAYS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3410712" y="2679192"/>
            <a:ext cx="233172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Build the MVP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3410712" y="3246120"/>
            <a:ext cx="2331720" cy="154914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Stand up knowledge-graph foundation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Implement 360, renewal + spend agents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Load curated sample + graph data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1627632"/>
            <a:ext cx="548640" cy="548640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chemeClr val="bg1"/>
                </a:solidFill>
                <a:latin typeface="Ubuntu" panose="020B0504030602030204" pitchFamily="34" charset="0"/>
              </a:rPr>
              <a:t>03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108192" y="2331720"/>
            <a:ext cx="224028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chemeClr val="bg1"/>
                </a:solidFill>
                <a:latin typeface="Ubuntu" panose="020B0504030602030204" pitchFamily="34" charset="0"/>
              </a:rPr>
              <a:t>60–90 DAYS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108192" y="2679192"/>
            <a:ext cx="2331720" cy="2923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900" b="1" i="0">
                <a:solidFill>
                  <a:schemeClr val="bg1"/>
                </a:solidFill>
                <a:latin typeface="Ubuntu" panose="020B0504030602030204" pitchFamily="34" charset="0"/>
              </a:rPr>
              <a:t>Demonstrate value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108192" y="3246120"/>
            <a:ext cx="2331720" cy="154914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Executive-ready dashboard + chat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Validate top use cases with users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Ubuntu" panose="020B0504030602030204" pitchFamily="34" charset="0"/>
              </a:rPr>
              <a:t>Operationalize RBAC, lineage + audit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87968" y="1609344"/>
            <a:ext cx="0" cy="4041648"/>
          </a:xfrm>
          <a:prstGeom prst="line">
            <a:avLst/>
          </a:prstGeom>
          <a:ln w="15240">
            <a:solidFill>
              <a:srgbClr val="D5EA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9162288" y="1600200"/>
            <a:ext cx="233172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>
                <a:solidFill>
                  <a:schemeClr val="bg1"/>
                </a:solidFill>
                <a:latin typeface="Ubuntu" panose="020B0504030602030204" pitchFamily="34" charset="0"/>
              </a:rPr>
              <a:t>INITIAL MVP SCOPE</a:t>
            </a:r>
          </a:p>
        </p:txBody>
      </p:sp>
      <p:sp>
        <p:nvSpPr>
          <p:cNvPr id="21" name="Oval 20"/>
          <p:cNvSpPr/>
          <p:nvPr/>
        </p:nvSpPr>
        <p:spPr>
          <a:xfrm>
            <a:off x="9162288" y="2148840"/>
            <a:ext cx="256032" cy="256032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Ubuntu" panose="020B0504030602030204" pitchFamily="34" charset="0"/>
              </a:rPr>
              <a:t>1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9528048" y="2139696"/>
            <a:ext cx="192024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Contracts &amp; SOWs</a:t>
            </a:r>
          </a:p>
        </p:txBody>
      </p:sp>
      <p:sp>
        <p:nvSpPr>
          <p:cNvPr id="23" name="Oval 22"/>
          <p:cNvSpPr/>
          <p:nvPr/>
        </p:nvSpPr>
        <p:spPr>
          <a:xfrm>
            <a:off x="9162288" y="2743200"/>
            <a:ext cx="256032" cy="256032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Ubuntu" panose="020B0504030602030204" pitchFamily="34" charset="0"/>
              </a:rPr>
              <a:t>2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528048" y="2734056"/>
            <a:ext cx="192024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GL / spend data</a:t>
            </a:r>
          </a:p>
        </p:txBody>
      </p:sp>
      <p:sp>
        <p:nvSpPr>
          <p:cNvPr id="25" name="Oval 24"/>
          <p:cNvSpPr/>
          <p:nvPr/>
        </p:nvSpPr>
        <p:spPr>
          <a:xfrm>
            <a:off x="9162288" y="3337560"/>
            <a:ext cx="256032" cy="256032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Ubuntu" panose="020B0504030602030204" pitchFamily="34" charset="0"/>
              </a:rPr>
              <a:t>3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9528048" y="3328416"/>
            <a:ext cx="192024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External workforce</a:t>
            </a:r>
          </a:p>
        </p:txBody>
      </p:sp>
      <p:sp>
        <p:nvSpPr>
          <p:cNvPr id="27" name="Oval 26"/>
          <p:cNvSpPr/>
          <p:nvPr/>
        </p:nvSpPr>
        <p:spPr>
          <a:xfrm>
            <a:off x="9162288" y="3931920"/>
            <a:ext cx="256032" cy="256032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Ubuntu" panose="020B0504030602030204" pitchFamily="34" charset="0"/>
              </a:rPr>
              <a:t>4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528048" y="3922776"/>
            <a:ext cx="192024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Vendor master</a:t>
            </a:r>
          </a:p>
        </p:txBody>
      </p:sp>
      <p:sp>
        <p:nvSpPr>
          <p:cNvPr id="29" name="Oval 28"/>
          <p:cNvSpPr/>
          <p:nvPr/>
        </p:nvSpPr>
        <p:spPr>
          <a:xfrm>
            <a:off x="9162288" y="4526280"/>
            <a:ext cx="256032" cy="256032"/>
          </a:xfrm>
          <a:prstGeom prst="ellipse">
            <a:avLst/>
          </a:prstGeom>
          <a:solidFill>
            <a:srgbClr val="00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Ubuntu" panose="020B0504030602030204" pitchFamily="34" charset="0"/>
              </a:rPr>
              <a:t>5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9528048" y="4517136"/>
            <a:ext cx="1920240" cy="43088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i="0">
                <a:solidFill>
                  <a:schemeClr val="bg1"/>
                </a:solidFill>
                <a:latin typeface="Ubuntu" panose="020B0504030602030204" pitchFamily="34" charset="0"/>
              </a:rPr>
              <a:t>Operating unit + product hierarchy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5705856"/>
            <a:ext cx="10808208" cy="0"/>
          </a:xfrm>
          <a:prstGeom prst="line">
            <a:avLst/>
          </a:prstGeom>
          <a:ln w="19050">
            <a:solidFill>
              <a:srgbClr val="2B0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>
            <a:spLocks/>
          </p:cNvSpPr>
          <p:nvPr/>
        </p:nvSpPr>
        <p:spPr>
          <a:xfrm>
            <a:off x="713232" y="5907024"/>
            <a:ext cx="1088136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chemeClr val="bg1"/>
                </a:solidFill>
                <a:latin typeface="Ubuntu" panose="020B0504030602030204" pitchFamily="34" charset="0"/>
              </a:rPr>
              <a:t>CONTROLS  </a:t>
            </a:r>
            <a:r>
              <a:rPr lang="en-US" sz="1400" b="0" i="0" dirty="0">
                <a:solidFill>
                  <a:schemeClr val="bg1"/>
                </a:solidFill>
                <a:latin typeface="Ubuntu" panose="020B0504030602030204" pitchFamily="34" charset="0"/>
              </a:rPr>
              <a:t>RBAC   +   PII protection   +   lineage   +   monitoring   +   evaluation   +  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49556"/>
            <a:ext cx="41148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chemeClr val="bg1"/>
                </a:solidFill>
                <a:latin typeface="Ubuntu" panose="020B0504030602030204" pitchFamily="34" charset="0"/>
              </a:rPr>
              <a:t>06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75BC-228C-B361-41BD-85E24C83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13" y="2962170"/>
            <a:ext cx="4751907" cy="72017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37957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apgemini_Bright_2025">
  <a:themeElements>
    <a:clrScheme name="Capgemini Bright 2026">
      <a:dk1>
        <a:srgbClr val="000000"/>
      </a:dk1>
      <a:lt1>
        <a:srgbClr val="FFFFFF"/>
      </a:lt1>
      <a:dk2>
        <a:srgbClr val="0057AB"/>
      </a:dk2>
      <a:lt2>
        <a:srgbClr val="FFFFFF"/>
      </a:lt2>
      <a:accent1>
        <a:srgbClr val="1DB6F3"/>
      </a:accent1>
      <a:accent2>
        <a:srgbClr val="111937"/>
      </a:accent2>
      <a:accent3>
        <a:srgbClr val="00828E"/>
      </a:accent3>
      <a:accent4>
        <a:srgbClr val="BE4D01"/>
      </a:accent4>
      <a:accent5>
        <a:srgbClr val="903137"/>
      </a:accent5>
      <a:accent6>
        <a:srgbClr val="725F9F"/>
      </a:accent6>
      <a:hlink>
        <a:srgbClr val="0058AB"/>
      </a:hlink>
      <a:folHlink>
        <a:srgbClr val="1DB7F3"/>
      </a:folHlink>
    </a:clrScheme>
    <a:fontScheme name="Capgemini 2024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Turquoise on Dark">
      <a:srgbClr val="00D5D0"/>
    </a:custClr>
    <a:custClr name="Amber on Dark">
      <a:srgbClr val="FEB100"/>
    </a:custClr>
    <a:custClr name="Coral on Dark">
      <a:srgbClr val="FF816E"/>
    </a:custClr>
    <a:custClr name="Lilac on Dark">
      <a:srgbClr val="D4D5F2"/>
    </a:custClr>
    <a:custClr name="Teal on Light">
      <a:srgbClr val="00828E"/>
    </a:custClr>
    <a:custClr name="Burnt Orange on Light">
      <a:srgbClr val="BE4D01"/>
    </a:custClr>
    <a:custClr name="Maroon on Light">
      <a:srgbClr val="903137"/>
    </a:custClr>
    <a:custClr name="Mauve on Light">
      <a:srgbClr val="725F9F"/>
    </a:custClr>
  </a:custClrLst>
  <a:extLst>
    <a:ext uri="{05A4C25C-085E-4340-85A3-A5531E510DB2}">
      <thm15:themeFamily xmlns:thm15="http://schemas.microsoft.com/office/thememl/2012/main" name="Capgemini_Group-Presentation_October_25" id="{DC92CC6A-C389-B54F-8A27-77CDF2D7CEBF}" vid="{02A76615-C289-CC45-9719-39BCE81FBEE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apgemini Bright 2026">
    <a:dk1>
      <a:srgbClr val="000000"/>
    </a:dk1>
    <a:lt1>
      <a:srgbClr val="FFFFFF"/>
    </a:lt1>
    <a:dk2>
      <a:srgbClr val="0057AB"/>
    </a:dk2>
    <a:lt2>
      <a:srgbClr val="FFFFFF"/>
    </a:lt2>
    <a:accent1>
      <a:srgbClr val="1DB6F3"/>
    </a:accent1>
    <a:accent2>
      <a:srgbClr val="111937"/>
    </a:accent2>
    <a:accent3>
      <a:srgbClr val="00828E"/>
    </a:accent3>
    <a:accent4>
      <a:srgbClr val="BE4D01"/>
    </a:accent4>
    <a:accent5>
      <a:srgbClr val="903137"/>
    </a:accent5>
    <a:accent6>
      <a:srgbClr val="725F9F"/>
    </a:accent6>
    <a:hlink>
      <a:srgbClr val="0058AB"/>
    </a:hlink>
    <a:folHlink>
      <a:srgbClr val="1DB7F3"/>
    </a:folHlink>
  </a:clrScheme>
</a:themeOverride>
</file>

<file path=ppt/theme/themeOverride2.xml><?xml version="1.0" encoding="utf-8"?>
<a:themeOverride xmlns:a="http://schemas.openxmlformats.org/drawingml/2006/main">
  <a:clrScheme name="Capgemini Bright 2026">
    <a:dk1>
      <a:srgbClr val="000000"/>
    </a:dk1>
    <a:lt1>
      <a:srgbClr val="FFFFFF"/>
    </a:lt1>
    <a:dk2>
      <a:srgbClr val="0057AB"/>
    </a:dk2>
    <a:lt2>
      <a:srgbClr val="FFFFFF"/>
    </a:lt2>
    <a:accent1>
      <a:srgbClr val="1DB6F3"/>
    </a:accent1>
    <a:accent2>
      <a:srgbClr val="111937"/>
    </a:accent2>
    <a:accent3>
      <a:srgbClr val="00828E"/>
    </a:accent3>
    <a:accent4>
      <a:srgbClr val="BE4D01"/>
    </a:accent4>
    <a:accent5>
      <a:srgbClr val="903137"/>
    </a:accent5>
    <a:accent6>
      <a:srgbClr val="725F9F"/>
    </a:accent6>
    <a:hlink>
      <a:srgbClr val="0058AB"/>
    </a:hlink>
    <a:folHlink>
      <a:srgbClr val="1DB7F3"/>
    </a:folHlink>
  </a:clrScheme>
</a:themeOverride>
</file>

<file path=ppt/theme/themeOverride3.xml><?xml version="1.0" encoding="utf-8"?>
<a:themeOverride xmlns:a="http://schemas.openxmlformats.org/drawingml/2006/main">
  <a:clrScheme name="Capgemini Bright 2026">
    <a:dk1>
      <a:srgbClr val="000000"/>
    </a:dk1>
    <a:lt1>
      <a:srgbClr val="FFFFFF"/>
    </a:lt1>
    <a:dk2>
      <a:srgbClr val="0057AB"/>
    </a:dk2>
    <a:lt2>
      <a:srgbClr val="FFFFFF"/>
    </a:lt2>
    <a:accent1>
      <a:srgbClr val="1DB6F3"/>
    </a:accent1>
    <a:accent2>
      <a:srgbClr val="111937"/>
    </a:accent2>
    <a:accent3>
      <a:srgbClr val="00828E"/>
    </a:accent3>
    <a:accent4>
      <a:srgbClr val="BE4D01"/>
    </a:accent4>
    <a:accent5>
      <a:srgbClr val="903137"/>
    </a:accent5>
    <a:accent6>
      <a:srgbClr val="725F9F"/>
    </a:accent6>
    <a:hlink>
      <a:srgbClr val="0058AB"/>
    </a:hlink>
    <a:folHlink>
      <a:srgbClr val="1DB7F3"/>
    </a:folHlink>
  </a:clrScheme>
</a:themeOverrid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818</Words>
  <Application>Microsoft Office PowerPoint</Application>
  <PresentationFormat>Widescreen</PresentationFormat>
  <Paragraphs>218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1_Capgemini_Bright_2025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Management Decision Intelligence</dc:title>
  <dc:subject>Vendor Management Decision Intelligence</dc:subject>
  <dc:creator>OpenAI</dc:creator>
  <cp:lastModifiedBy>Jayanty, Vishal</cp:lastModifiedBy>
  <cp:revision>4</cp:revision>
  <dcterms:created xsi:type="dcterms:W3CDTF">2026-08-26T13:09:58Z</dcterms:created>
  <dcterms:modified xsi:type="dcterms:W3CDTF">2026-09-30T17:27:19Z</dcterms:modified>
</cp:coreProperties>
</file>